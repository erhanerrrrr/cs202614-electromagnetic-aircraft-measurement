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7277d5b1b440c1" /><Relationship Type="http://schemas.openxmlformats.org/officeDocument/2006/relationships/extended-properties" Target="/docProps/app.xml" Id="R4c774185cc234205" /><Relationship Type="http://schemas.openxmlformats.org/officeDocument/2006/relationships/officeDocument" Target="/ppt/presentation.xml" Id="R34305086481b4a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44b0df5be747e6"/>
  </p:sldMasterIdLst>
  <p:notesMasterIdLst>
    <p:notesMasterId xmlns:r="http://schemas.openxmlformats.org/officeDocument/2006/relationships" r:id="R0daac50bfe65451b"/>
  </p:notesMasterIdLst>
  <p:sldIdLst>
    <p:sldId xmlns:r="http://schemas.openxmlformats.org/officeDocument/2006/relationships" id="256" r:id="Re35c185309a1480a"/>
    <p:sldId xmlns:r="http://schemas.openxmlformats.org/officeDocument/2006/relationships" id="257" r:id="R06e34fbc707040fa"/>
    <p:sldId xmlns:r="http://schemas.openxmlformats.org/officeDocument/2006/relationships" id="258" r:id="R6d0db6171b9b4dae"/>
    <p:sldId xmlns:r="http://schemas.openxmlformats.org/officeDocument/2006/relationships" id="259" r:id="Rce84ec25d8e14c01"/>
    <p:sldId xmlns:r="http://schemas.openxmlformats.org/officeDocument/2006/relationships" id="260" r:id="Rea5263959f7a4614"/>
    <p:sldId xmlns:r="http://schemas.openxmlformats.org/officeDocument/2006/relationships" id="261" r:id="R938885b9755f4572"/>
    <p:sldId xmlns:r="http://schemas.openxmlformats.org/officeDocument/2006/relationships" id="262" r:id="Rcf42f0daa4c04ef6"/>
    <p:sldId xmlns:r="http://schemas.openxmlformats.org/officeDocument/2006/relationships" id="263" r:id="R54d076b8650648b3"/>
    <p:sldId xmlns:r="http://schemas.openxmlformats.org/officeDocument/2006/relationships" id="264" r:id="Rf524476018d04f26"/>
    <p:sldId xmlns:r="http://schemas.openxmlformats.org/officeDocument/2006/relationships" id="265" r:id="R04d42385fa824bb6"/>
    <p:sldId xmlns:r="http://schemas.openxmlformats.org/officeDocument/2006/relationships" id="266" r:id="R478f5ecd227b4102"/>
    <p:sldId xmlns:r="http://schemas.openxmlformats.org/officeDocument/2006/relationships" id="267" r:id="Re67be201223440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4b0df5be747e6" /><Relationship Type="http://schemas.openxmlformats.org/officeDocument/2006/relationships/theme" Target="/ppt/theme/theme1.xml" Id="R767b582981be4202" /><Relationship Type="http://schemas.openxmlformats.org/officeDocument/2006/relationships/notesMaster" Target="/ppt/notesMasters/notesMaster1.xml" Id="R0daac50bfe65451b" /><Relationship Type="http://schemas.openxmlformats.org/officeDocument/2006/relationships/presProps" Target="/ppt/presProps.xml" Id="R2f660ea48ec04233" /><Relationship Type="http://schemas.openxmlformats.org/officeDocument/2006/relationships/viewProps" Target="/ppt/viewProps.xml" Id="R195160babcbd421e" /><Relationship Type="http://schemas.openxmlformats.org/officeDocument/2006/relationships/tableStyles" Target="/ppt/tableStyles.xml" Id="R7a94627272054e11" /><Relationship Type="http://schemas.openxmlformats.org/officeDocument/2006/relationships/slide" Target="/ppt/slides/slide1.xml" Id="Re35c185309a1480a" /><Relationship Type="http://schemas.openxmlformats.org/officeDocument/2006/relationships/slide" Target="/ppt/slides/slide2.xml" Id="R06e34fbc707040fa" /><Relationship Type="http://schemas.openxmlformats.org/officeDocument/2006/relationships/slide" Target="/ppt/slides/slide3.xml" Id="R6d0db6171b9b4dae" /><Relationship Type="http://schemas.openxmlformats.org/officeDocument/2006/relationships/slide" Target="/ppt/slides/slide4.xml" Id="Rce84ec25d8e14c01" /><Relationship Type="http://schemas.openxmlformats.org/officeDocument/2006/relationships/slide" Target="/ppt/slides/slide5.xml" Id="Rea5263959f7a4614" /><Relationship Type="http://schemas.openxmlformats.org/officeDocument/2006/relationships/slide" Target="/ppt/slides/slide6.xml" Id="R938885b9755f4572" /><Relationship Type="http://schemas.openxmlformats.org/officeDocument/2006/relationships/slide" Target="/ppt/slides/slide7.xml" Id="Rcf42f0daa4c04ef6" /><Relationship Type="http://schemas.openxmlformats.org/officeDocument/2006/relationships/slide" Target="/ppt/slides/slide8.xml" Id="R54d076b8650648b3" /><Relationship Type="http://schemas.openxmlformats.org/officeDocument/2006/relationships/slide" Target="/ppt/slides/slide9.xml" Id="Rf524476018d04f26" /><Relationship Type="http://schemas.openxmlformats.org/officeDocument/2006/relationships/slide" Target="/ppt/slides/slide10.xml" Id="R04d42385fa824bb6" /><Relationship Type="http://schemas.openxmlformats.org/officeDocument/2006/relationships/slide" Target="/ppt/slides/slide11.xml" Id="R478f5ecd227b4102" /><Relationship Type="http://schemas.openxmlformats.org/officeDocument/2006/relationships/slide" Target="/ppt/slides/slide12.xml" Id="Re67be201223440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0ce1608906d4a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7eb179cfaa4d5c" /><Relationship Type="http://schemas.openxmlformats.org/officeDocument/2006/relationships/notesMaster" Target="/ppt/notesMasters/notesMaster1.xml" Id="R8cd746b5aa0e41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b2169db01a4c90" /><Relationship Type="http://schemas.openxmlformats.org/officeDocument/2006/relationships/notesMaster" Target="/ppt/notesMasters/notesMaster1.xml" Id="Rbe09b4001e8d41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1f24743ef641f1" /><Relationship Type="http://schemas.openxmlformats.org/officeDocument/2006/relationships/notesMaster" Target="/ppt/notesMasters/notesMaster1.xml" Id="Rd8e7f369799b46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330442c7f24208" /><Relationship Type="http://schemas.openxmlformats.org/officeDocument/2006/relationships/notesMaster" Target="/ppt/notesMasters/notesMaster1.xml" Id="R05511424f02547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304069ab4c4c98" /><Relationship Type="http://schemas.openxmlformats.org/officeDocument/2006/relationships/notesMaster" Target="/ppt/notesMasters/notesMaster1.xml" Id="Rb9d74d7d7e0d43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88d447cbe04e4b" /><Relationship Type="http://schemas.openxmlformats.org/officeDocument/2006/relationships/notesMaster" Target="/ppt/notesMasters/notesMaster1.xml" Id="R9ea848cda15642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f89898e1a9463d" /><Relationship Type="http://schemas.openxmlformats.org/officeDocument/2006/relationships/notesMaster" Target="/ppt/notesMasters/notesMaster1.xml" Id="R60a08af43be44c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76618a31ff44d6" /><Relationship Type="http://schemas.openxmlformats.org/officeDocument/2006/relationships/notesMaster" Target="/ppt/notesMasters/notesMaster1.xml" Id="Reea70374411e41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1dd6e7b50d41d8" /><Relationship Type="http://schemas.openxmlformats.org/officeDocument/2006/relationships/notesMaster" Target="/ppt/notesMasters/notesMaster1.xml" Id="R6c67111295f74e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5af21551cf461c" /><Relationship Type="http://schemas.openxmlformats.org/officeDocument/2006/relationships/notesMaster" Target="/ppt/notesMasters/notesMaster1.xml" Id="R8e509d8aec0d48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193322fe0e4e1f" /><Relationship Type="http://schemas.openxmlformats.org/officeDocument/2006/relationships/notesMaster" Target="/ppt/notesMasters/notesMaster1.xml" Id="R7c28d9975f5541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ec9b31a00547e4" /><Relationship Type="http://schemas.openxmlformats.org/officeDocument/2006/relationships/notesMaster" Target="/ppt/notesMasters/notesMaster1.xml" Id="R919a7d24f95246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88f7df37a49d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a9e700167374dda" /><Relationship Type="http://schemas.openxmlformats.org/officeDocument/2006/relationships/slideLayout" Target="/ppt/slideLayouts/slideLayout2.xml" Id="Rfcedc310595d4c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edc310595d4c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902458456d46f4" /><Relationship Type="http://schemas.openxmlformats.org/officeDocument/2006/relationships/notesSlide" Target="/ppt/notesSlides/notesSlide1.xml" Id="Ra54dc4e6961343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ff3d7a24cb4e73" /><Relationship Type="http://schemas.openxmlformats.org/officeDocument/2006/relationships/notesSlide" Target="/ppt/notesSlides/notesSlide2.xml" Id="R98c78783bc8446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04db0501914017" /><Relationship Type="http://schemas.openxmlformats.org/officeDocument/2006/relationships/notesSlide" Target="/ppt/notesSlides/notesSlide3.xml" Id="Rcd87aa44e7374f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aa587c00304060" /><Relationship Type="http://schemas.openxmlformats.org/officeDocument/2006/relationships/notesSlide" Target="/ppt/notesSlides/notesSlide4.xml" Id="R9104dd6234f54d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534daaff1e438f" /><Relationship Type="http://schemas.openxmlformats.org/officeDocument/2006/relationships/image" Target="/ppt/media/image.png" Id="R874e041500a748fd" /><Relationship Type="http://schemas.openxmlformats.org/officeDocument/2006/relationships/notesSlide" Target="/ppt/notesSlides/notesSlide5.xml" Id="R54da00e04b8c42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add19c484040d5" /><Relationship Type="http://schemas.openxmlformats.org/officeDocument/2006/relationships/image" Target="/ppt/media/image2.png" Id="Rc796136784524a13" /><Relationship Type="http://schemas.openxmlformats.org/officeDocument/2006/relationships/notesSlide" Target="/ppt/notesSlides/notesSlide6.xml" Id="Rd6f7df019c8444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c4e8c90bbd48a8" /><Relationship Type="http://schemas.openxmlformats.org/officeDocument/2006/relationships/notesSlide" Target="/ppt/notesSlides/notesSlide7.xml" Id="R12c035b318ce49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7037f3ca194be7" /><Relationship Type="http://schemas.openxmlformats.org/officeDocument/2006/relationships/image" Target="/ppt/media/image3.png" Id="Ra3996028ea814a9f" /><Relationship Type="http://schemas.openxmlformats.org/officeDocument/2006/relationships/notesSlide" Target="/ppt/notesSlides/notesSlide8.xml" Id="R910cddacffa845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9c946c537344b1" /><Relationship Type="http://schemas.openxmlformats.org/officeDocument/2006/relationships/image" Target="/ppt/media/image4.png" Id="R2ccee346318e4ee4" /><Relationship Type="http://schemas.openxmlformats.org/officeDocument/2006/relationships/notesSlide" Target="/ppt/notesSlides/notesSlide9.xml" Id="R29165e9341fb42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813dbe09a046f0" /><Relationship Type="http://schemas.openxmlformats.org/officeDocument/2006/relationships/image" Target="/ppt/media/image5.png" Id="R5bc4a55540284d1c" /><Relationship Type="http://schemas.openxmlformats.org/officeDocument/2006/relationships/notesSlide" Target="/ppt/notesSlides/notesSlide10.xml" Id="R4d21c6e331ea4f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a4dc9c923e4c36" /><Relationship Type="http://schemas.openxmlformats.org/officeDocument/2006/relationships/notesSlide" Target="/ppt/notesSlides/notesSlide11.xml" Id="Rf0e1c2d88ef44f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fcfb51622047fb" /><Relationship Type="http://schemas.openxmlformats.org/officeDocument/2006/relationships/notesSlide" Target="/ppt/notesSlides/notesSlide12.xml" Id="R4b3a69dff33141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C6668CEF-F3F8-4214-B594-EEA1C715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D2500FD-1B2E-43D5-86CB-2685D23F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D9A7145-7B51-4F78-BD74-41D4E4B8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1F23BED-79FE-4033-B21C-08CD884F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方案总览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C247981-9A87-4AF0-869B-D23F8B46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半球面 2π 测量 + CST-Python 闭环，支撑重建与识别两条主线</a:t>
            </a:r>
          </a:p>
        </p:txBody>
      </p:sp>
      <p:sp>
        <p:nvSpPr>
          <p:cNvPr id="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A274207-3BFF-4322-AB8F-FEE21F80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2A6807E-2736-4C75-808C-0EE10CFF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717C7-EEC3-4BE0-A7BD-530C2D6B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复杂航空载体电磁辐射空域特性测量技术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6333E-2618-4B24-A368-F36B7308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物理约束的空-频-极化联合等效源重构与受限域压缩测量方法</a:t>
            </a:r>
          </a:p>
        </p:txBody>
      </p:sp>
      <p:sp>
        <p:nvSpPr>
          <p:cNvPr id="10" name="metric-box">
            <a:extLst xmlns:a="http://schemas.openxmlformats.org/drawingml/2006/main">
              <a:ext uri="{FF2B5EF4-FFF2-40B4-BE49-F238E27FC236}">
                <a16:creationId xmlns:a16="http://schemas.microsoft.com/office/drawing/2014/main" id="{0528D7CD-ACAF-47F5-AD11-402733DA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A20D028E-0AAE-4C86-B806-3E9C0956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0EB6B43-950E-41F8-93D8-D5B0DBE2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162</a:t>
            </a:r>
          </a:p>
        </p:txBody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A8BA8CF-B3FC-4F87-BF45-82BADEF4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半球面测点</a:t>
            </a:r>
          </a:p>
        </p:txBody>
      </p:sp>
      <p:sp>
        <p:nvSpPr>
          <p:cNvPr id="14" name="metric-box">
            <a:extLst xmlns:a="http://schemas.openxmlformats.org/drawingml/2006/main">
              <a:ext uri="{FF2B5EF4-FFF2-40B4-BE49-F238E27FC236}">
                <a16:creationId xmlns:a16="http://schemas.microsoft.com/office/drawing/2014/main" id="{77F7B28F-E215-4A03-9BCA-D19BE73B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4F63E67F-ED09-4CA0-84AB-BC895505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855141B-1FE6-45A4-91A2-FAB1F393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575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48/48</a:t>
            </a:r>
          </a:p>
        </p:txBody>
      </p:sp>
      <p:sp>
        <p:nvSpPr>
          <p:cNvPr id="1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C460C05-7B92-4F1B-93FB-318FCA40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576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Level 2 样本</a:t>
            </a:r>
          </a:p>
        </p:txBody>
      </p:sp>
      <p:sp>
        <p:nvSpPr>
          <p:cNvPr id="18" name="metric-box">
            <a:extLst xmlns:a="http://schemas.openxmlformats.org/drawingml/2006/main">
              <a:ext uri="{FF2B5EF4-FFF2-40B4-BE49-F238E27FC236}">
                <a16:creationId xmlns:a16="http://schemas.microsoft.com/office/drawing/2014/main" id="{B2AA1628-FFE0-40A6-A057-5D33327F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98A219BB-B931-4883-9444-742B8E4B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3F254EB-E1D0-4FCF-8207-2CC6C77E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575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2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DED58F4-929E-47C0-BACA-465692F7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576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识别准确率</a:t>
            </a:r>
          </a:p>
        </p:txBody>
      </p:sp>
      <p:sp>
        <p:nvSpPr>
          <p:cNvPr id="22" name="metric-box">
            <a:extLst xmlns:a="http://schemas.openxmlformats.org/drawingml/2006/main">
              <a:ext uri="{FF2B5EF4-FFF2-40B4-BE49-F238E27FC236}">
                <a16:creationId xmlns:a16="http://schemas.microsoft.com/office/drawing/2014/main" id="{E5763BC9-3F71-4421-8BC7-4B94D7D0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9F65B751-5A33-469A-92D6-6A6A83BB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59EEE18-3FFC-4329-9B58-822FA8AB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575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25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5FE5CEB-3D64-4D40-848B-0EC39C4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576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结构跨域</a:t>
            </a:r>
          </a:p>
        </p:txBody>
      </p:sp>
      <p:sp>
        <p:nvSpPr>
          <p:cNvPr id="26" name="note-box">
            <a:extLst xmlns:a="http://schemas.openxmlformats.org/drawingml/2006/main">
              <a:ext uri="{FF2B5EF4-FFF2-40B4-BE49-F238E27FC236}">
                <a16:creationId xmlns:a16="http://schemas.microsoft.com/office/drawing/2014/main" id="{ACB8FEA7-7800-48AC-B9D8-A9A11937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E2D2B8"/>
            </a:solidFill>
            <a:prstDash val="solid"/>
          </a:ln>
        </p:spPr>
      </p:sp>
      <p:sp>
        <p:nvSpPr>
          <p:cNvPr id="27" name="note-text">
            <a:extLst xmlns:a="http://schemas.openxmlformats.org/drawingml/2006/main">
              <a:ext uri="{FF2B5EF4-FFF2-40B4-BE49-F238E27FC236}">
                <a16:creationId xmlns:a16="http://schemas.microsoft.com/office/drawing/2014/main" id="{5E501CE3-1EE7-4120-AE6A-A5277FD5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8991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当前生成正式报告 DOCX/PDF；PPTX 由本 deck 导出；MP4 仍需录制或自动生成。</a:t>
            </a:r>
          </a:p>
        </p:txBody>
      </p:sp>
    </p:spTree>
    <p:extLst>
      <p:ext uri="{BB962C8B-B14F-4D97-AF65-F5344CB8AC3E}">
        <p14:creationId xmlns:p14="http://schemas.microsoft.com/office/powerpoint/2010/main" val="14537226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0E8FDB22-BC2E-4CDD-80FE-1FCEB29F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F59FAE77-AA55-4892-91BF-5E177F6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3B1FCE6-0A02-46B6-B26A-5F2F726C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F7F131-499C-441C-8B04-296AAE40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指标拆解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1B835CA-19A7-4444-A3C9-11A04AB4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100 分评分项已映射到可审计文件和可复现实验输出</a:t>
            </a:r>
          </a:p>
        </p:txBody>
      </p:sp>
      <p:sp>
        <p:nvSpPr>
          <p:cNvPr id="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2780A94-D949-42DE-A15A-C0A92B33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6BFA63F-87AA-42E1-8E22-11448FC6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table-cell">
            <a:extLst xmlns:a="http://schemas.openxmlformats.org/drawingml/2006/main">
              <a:ext uri="{FF2B5EF4-FFF2-40B4-BE49-F238E27FC236}">
                <a16:creationId xmlns:a16="http://schemas.microsoft.com/office/drawing/2014/main" id="{8B75AE56-4474-41AA-8D1A-49AD8B59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table-text">
            <a:extLst xmlns:a="http://schemas.openxmlformats.org/drawingml/2006/main">
              <a:ext uri="{FF2B5EF4-FFF2-40B4-BE49-F238E27FC236}">
                <a16:creationId xmlns:a16="http://schemas.microsoft.com/office/drawing/2014/main" id="{B1A61B9B-77E1-4675-B9B8-44F643ED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99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赛题要求</a:t>
            </a:r>
          </a:p>
        </p:txBody>
      </p:sp>
      <p:sp>
        <p:nvSpPr>
          <p:cNvPr id="10" name="table-cell">
            <a:extLst xmlns:a="http://schemas.openxmlformats.org/drawingml/2006/main">
              <a:ext uri="{FF2B5EF4-FFF2-40B4-BE49-F238E27FC236}">
                <a16:creationId xmlns:a16="http://schemas.microsoft.com/office/drawing/2014/main" id="{9FA1F3A7-3DC3-48C8-8A9F-CCC8156D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383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table-text">
            <a:extLst xmlns:a="http://schemas.openxmlformats.org/drawingml/2006/main">
              <a:ext uri="{FF2B5EF4-FFF2-40B4-BE49-F238E27FC236}">
                <a16:creationId xmlns:a16="http://schemas.microsoft.com/office/drawing/2014/main" id="{E5BF287D-D743-4729-BD56-A716DBFD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" name="table-cell">
            <a:extLst xmlns:a="http://schemas.openxmlformats.org/drawingml/2006/main">
              <a:ext uri="{FF2B5EF4-FFF2-40B4-BE49-F238E27FC236}">
                <a16:creationId xmlns:a16="http://schemas.microsoft.com/office/drawing/2014/main" id="{C607ADDF-F60A-460B-852C-169BD743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table-text">
            <a:extLst xmlns:a="http://schemas.openxmlformats.org/drawingml/2006/main">
              <a:ext uri="{FF2B5EF4-FFF2-40B4-BE49-F238E27FC236}">
                <a16:creationId xmlns:a16="http://schemas.microsoft.com/office/drawing/2014/main" id="{0A63FF22-E195-4342-AC9D-B3242683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4" name="table-cell">
            <a:extLst xmlns:a="http://schemas.openxmlformats.org/drawingml/2006/main">
              <a:ext uri="{FF2B5EF4-FFF2-40B4-BE49-F238E27FC236}">
                <a16:creationId xmlns:a16="http://schemas.microsoft.com/office/drawing/2014/main" id="{8456B6BD-CC28-4C99-9D71-5EF819DB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table-text">
            <a:extLst xmlns:a="http://schemas.openxmlformats.org/drawingml/2006/main">
              <a:ext uri="{FF2B5EF4-FFF2-40B4-BE49-F238E27FC236}">
                <a16:creationId xmlns:a16="http://schemas.microsoft.com/office/drawing/2014/main" id="{C479050F-09E2-4227-BA7C-B65FCB91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99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2π 覆盖与 12m x 10m x 8m 包络</a:t>
            </a:r>
          </a:p>
        </p:txBody>
      </p:sp>
      <p:sp>
        <p:nvSpPr>
          <p:cNvPr id="16" name="table-cell">
            <a:extLst xmlns:a="http://schemas.openxmlformats.org/drawingml/2006/main">
              <a:ext uri="{FF2B5EF4-FFF2-40B4-BE49-F238E27FC236}">
                <a16:creationId xmlns:a16="http://schemas.microsoft.com/office/drawing/2014/main" id="{6C5CDFD1-F910-4670-95D5-48269ED7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860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table-text">
            <a:extLst xmlns:a="http://schemas.openxmlformats.org/drawingml/2006/main">
              <a:ext uri="{FF2B5EF4-FFF2-40B4-BE49-F238E27FC236}">
                <a16:creationId xmlns:a16="http://schemas.microsoft.com/office/drawing/2014/main" id="{24A1BB8B-2DA9-4C88-BA87-8435B537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半球面 162 测点 + CST workpack</a:t>
            </a:r>
          </a:p>
        </p:txBody>
      </p:sp>
      <p:sp>
        <p:nvSpPr>
          <p:cNvPr id="18" name="table-cell">
            <a:extLst xmlns:a="http://schemas.openxmlformats.org/drawingml/2006/main">
              <a:ext uri="{FF2B5EF4-FFF2-40B4-BE49-F238E27FC236}">
                <a16:creationId xmlns:a16="http://schemas.microsoft.com/office/drawing/2014/main" id="{071D4D4C-C974-498F-8507-BF3EB2B6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table-text">
            <a:extLst xmlns:a="http://schemas.openxmlformats.org/drawingml/2006/main">
              <a:ext uri="{FF2B5EF4-FFF2-40B4-BE49-F238E27FC236}">
                <a16:creationId xmlns:a16="http://schemas.microsoft.com/office/drawing/2014/main" id="{300E72AA-82F7-47E6-8E62-D5CD6E17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sp>
        <p:nvSpPr>
          <p:cNvPr id="20" name="table-cell">
            <a:extLst xmlns:a="http://schemas.openxmlformats.org/drawingml/2006/main">
              <a:ext uri="{FF2B5EF4-FFF2-40B4-BE49-F238E27FC236}">
                <a16:creationId xmlns:a16="http://schemas.microsoft.com/office/drawing/2014/main" id="{BB94A05D-83A4-4375-B5A5-DB1D880F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table-text">
            <a:extLst xmlns:a="http://schemas.openxmlformats.org/drawingml/2006/main">
              <a:ext uri="{FF2B5EF4-FFF2-40B4-BE49-F238E27FC236}">
                <a16:creationId xmlns:a16="http://schemas.microsoft.com/office/drawing/2014/main" id="{B39FCE2C-E65C-45ED-B240-40AE2085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299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三维场域重建与少测点</a:t>
            </a:r>
          </a:p>
        </p:txBody>
      </p:sp>
      <p:sp>
        <p:nvSpPr>
          <p:cNvPr id="22" name="table-cell">
            <a:extLst xmlns:a="http://schemas.openxmlformats.org/drawingml/2006/main">
              <a:ext uri="{FF2B5EF4-FFF2-40B4-BE49-F238E27FC236}">
                <a16:creationId xmlns:a16="http://schemas.microsoft.com/office/drawing/2014/main" id="{701CEA38-6105-49B0-A8A4-03F0167C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337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table-text">
            <a:extLst xmlns:a="http://schemas.openxmlformats.org/drawingml/2006/main">
              <a:ext uri="{FF2B5EF4-FFF2-40B4-BE49-F238E27FC236}">
                <a16:creationId xmlns:a16="http://schemas.microsoft.com/office/drawing/2014/main" id="{7C55B154-9248-497F-BDC9-AF924560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990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Level 1 required + 角域校准 + 鲁棒性曲线</a:t>
            </a:r>
          </a:p>
        </p:txBody>
      </p:sp>
      <p:sp>
        <p:nvSpPr>
          <p:cNvPr id="24" name="table-cell">
            <a:extLst xmlns:a="http://schemas.openxmlformats.org/drawingml/2006/main">
              <a:ext uri="{FF2B5EF4-FFF2-40B4-BE49-F238E27FC236}">
                <a16:creationId xmlns:a16="http://schemas.microsoft.com/office/drawing/2014/main" id="{E645F4ED-2165-4AA6-83D1-B32F2F94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337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table-text">
            <a:extLst xmlns:a="http://schemas.openxmlformats.org/drawingml/2006/main">
              <a:ext uri="{FF2B5EF4-FFF2-40B4-BE49-F238E27FC236}">
                <a16:creationId xmlns:a16="http://schemas.microsoft.com/office/drawing/2014/main" id="{04A78988-5356-4BA8-A972-A8558F71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模型边界待成稿</a:t>
            </a:r>
          </a:p>
        </p:txBody>
      </p:sp>
      <p:sp>
        <p:nvSpPr>
          <p:cNvPr id="26" name="table-cell">
            <a:extLst xmlns:a="http://schemas.openxmlformats.org/drawingml/2006/main">
              <a:ext uri="{FF2B5EF4-FFF2-40B4-BE49-F238E27FC236}">
                <a16:creationId xmlns:a16="http://schemas.microsoft.com/office/drawing/2014/main" id="{5B2303FC-3792-4319-9DCD-824B10B6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table-text">
            <a:extLst xmlns:a="http://schemas.openxmlformats.org/drawingml/2006/main">
              <a:ext uri="{FF2B5EF4-FFF2-40B4-BE49-F238E27FC236}">
                <a16:creationId xmlns:a16="http://schemas.microsoft.com/office/drawing/2014/main" id="{F72A91B5-63F1-440B-A7F2-77BB7C41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299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空间-频谱特征辨识 &gt;=85%</a:t>
            </a:r>
          </a:p>
        </p:txBody>
      </p:sp>
      <p:sp>
        <p:nvSpPr>
          <p:cNvPr id="28" name="table-cell">
            <a:extLst xmlns:a="http://schemas.openxmlformats.org/drawingml/2006/main">
              <a:ext uri="{FF2B5EF4-FFF2-40B4-BE49-F238E27FC236}">
                <a16:creationId xmlns:a16="http://schemas.microsoft.com/office/drawing/2014/main" id="{5110981B-026A-4DAD-BB55-D7E148A9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814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table-text">
            <a:extLst xmlns:a="http://schemas.openxmlformats.org/drawingml/2006/main">
              <a:ext uri="{FF2B5EF4-FFF2-40B4-BE49-F238E27FC236}">
                <a16:creationId xmlns:a16="http://schemas.microsoft.com/office/drawing/2014/main" id="{FBF6EEE7-77F5-4D5B-81FC-F462FE2D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5760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Level 2 full48 + 消融 + 结构遮挡跨域</a:t>
            </a:r>
          </a:p>
        </p:txBody>
      </p:sp>
      <p:sp>
        <p:nvSpPr>
          <p:cNvPr id="30" name="table-cell">
            <a:extLst xmlns:a="http://schemas.openxmlformats.org/drawingml/2006/main">
              <a:ext uri="{FF2B5EF4-FFF2-40B4-BE49-F238E27FC236}">
                <a16:creationId xmlns:a16="http://schemas.microsoft.com/office/drawing/2014/main" id="{DB713D51-70DC-4EC3-AE11-1AB99372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table-text">
            <a:extLst xmlns:a="http://schemas.openxmlformats.org/drawingml/2006/main">
              <a:ext uri="{FF2B5EF4-FFF2-40B4-BE49-F238E27FC236}">
                <a16:creationId xmlns:a16="http://schemas.microsoft.com/office/drawing/2014/main" id="{C6077C18-15AC-4F9B-8E7E-4A92E60F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576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sp>
        <p:nvSpPr>
          <p:cNvPr id="32" name="table-cell">
            <a:extLst xmlns:a="http://schemas.openxmlformats.org/drawingml/2006/main">
              <a:ext uri="{FF2B5EF4-FFF2-40B4-BE49-F238E27FC236}">
                <a16:creationId xmlns:a16="http://schemas.microsoft.com/office/drawing/2014/main" id="{97BA4B48-2C39-49B6-A5AD-85817DFD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table-text">
            <a:extLst xmlns:a="http://schemas.openxmlformats.org/drawingml/2006/main">
              <a:ext uri="{FF2B5EF4-FFF2-40B4-BE49-F238E27FC236}">
                <a16:creationId xmlns:a16="http://schemas.microsoft.com/office/drawing/2014/main" id="{0A2388C4-4851-406B-92EC-26F69AC0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99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最终交付物</a:t>
            </a:r>
          </a:p>
        </p:txBody>
      </p:sp>
      <p:sp>
        <p:nvSpPr>
          <p:cNvPr id="34" name="table-cell">
            <a:extLst xmlns:a="http://schemas.openxmlformats.org/drawingml/2006/main">
              <a:ext uri="{FF2B5EF4-FFF2-40B4-BE49-F238E27FC236}">
                <a16:creationId xmlns:a16="http://schemas.microsoft.com/office/drawing/2014/main" id="{0E1DA76C-2F16-4218-A9A2-B797C912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291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table-text">
            <a:extLst xmlns:a="http://schemas.openxmlformats.org/drawingml/2006/main">
              <a:ext uri="{FF2B5EF4-FFF2-40B4-BE49-F238E27FC236}">
                <a16:creationId xmlns:a16="http://schemas.microsoft.com/office/drawing/2014/main" id="{6284466E-5057-4336-B704-BB1F1C81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432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报告/PPT/视频/代码/CST/data</a:t>
            </a:r>
          </a:p>
        </p:txBody>
      </p:sp>
      <p:sp>
        <p:nvSpPr>
          <p:cNvPr id="36" name="table-cell">
            <a:extLst xmlns:a="http://schemas.openxmlformats.org/drawingml/2006/main">
              <a:ext uri="{FF2B5EF4-FFF2-40B4-BE49-F238E27FC236}">
                <a16:creationId xmlns:a16="http://schemas.microsoft.com/office/drawing/2014/main" id="{99112834-3506-4B5C-9DB4-D44AB8D2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29100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table-text">
            <a:extLst xmlns:a="http://schemas.openxmlformats.org/drawingml/2006/main">
              <a:ext uri="{FF2B5EF4-FFF2-40B4-BE49-F238E27FC236}">
                <a16:creationId xmlns:a16="http://schemas.microsoft.com/office/drawing/2014/main" id="{CC18FC7A-B756-4A74-90AE-CE7D933C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G5 收口中</a:t>
            </a:r>
          </a:p>
        </p:txBody>
      </p:sp>
      <p:sp>
        <p:nvSpPr>
          <p:cNvPr id="38" name="note-box">
            <a:extLst xmlns:a="http://schemas.openxmlformats.org/drawingml/2006/main">
              <a:ext uri="{FF2B5EF4-FFF2-40B4-BE49-F238E27FC236}">
                <a16:creationId xmlns:a16="http://schemas.microsoft.com/office/drawing/2014/main" id="{EAB0F873-BCE5-4054-AA83-E4CF61DA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981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D8"/>
          </a:solidFill>
          <a:ln xmlns:a="http://schemas.openxmlformats.org/drawingml/2006/main" w="9525">
            <a:solidFill>
              <a:srgbClr val="E2D2B8"/>
            </a:solidFill>
            <a:prstDash val="solid"/>
          </a:ln>
        </p:spPr>
      </p:sp>
      <p:sp>
        <p:nvSpPr>
          <p:cNvPr id="39" name="note-text">
            <a:extLst xmlns:a="http://schemas.openxmlformats.org/drawingml/2006/main">
              <a:ext uri="{FF2B5EF4-FFF2-40B4-BE49-F238E27FC236}">
                <a16:creationId xmlns:a16="http://schemas.microsoft.com/office/drawing/2014/main" id="{87CEAAA0-C693-4F55-AEF4-CB5EE50A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946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审计口径：completion_proven 只能在正式 PDF/DOCX/PPTX/MP4 和提交包审计全部通过后置为 true。</a:t>
            </a:r>
          </a:p>
        </p:txBody>
      </p:sp>
    </p:spTree>
    <p:extLst>
      <p:ext uri="{BB962C8B-B14F-4D97-AF65-F5344CB8AC3E}">
        <p14:creationId xmlns:p14="http://schemas.microsoft.com/office/powerpoint/2010/main" val="18809330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C0272618-18CA-4588-9411-646A4247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2F1907EC-7103-424E-A5C8-9399222B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4C60D3F-91B2-4A0D-8661-0B0F60F6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5A8DA0-0110-4C30-AC57-179A9154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文献迁移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17E7366-B6EC-43EA-AED9-9FA6F8A5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方法不是从零拼装，而是从近场测量、等效源、压缩采样和辐射指纹四条主线迁移</a:t>
            </a:r>
          </a:p>
        </p:txBody>
      </p:sp>
      <p:sp>
        <p:nvSpPr>
          <p:cNvPr id="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3C8181C3-BF8D-4B63-8DBA-CF29C453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DBF0A17-F842-4422-B419-F2212824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90233-04B2-4905-A606-1912BA5C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16FAB-C678-4246-B999-821C7D72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478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IEEE 149/1720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0F4C9-ACCF-41EC-B3AB-558A0C9F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1089F-64CE-4EA9-9EEE-7BFB353A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478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标准测量与近远场变换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3A862-FBB4-41A9-8284-CF3A203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4696E-AB3F-4847-AE7F-18EDD84C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241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IEEE TAP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DE500-02E5-4A90-81A7-52D6B5F9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DE6B1-1BF4-405E-A214-2FC1DA6A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任意曲面 NF-FF 与等效源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2D17E-4842-4D79-ADA9-BA2D5B8A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71CFA-286F-48D5-8F1F-5E635C05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0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IEEE TSP/JSTSP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C1A41-2319-410F-ACA9-29CD7113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480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BD87C-86B2-4FCB-8CEF-3F177139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004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压缩感知与少测点优化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CF20F-1C6E-4B62-8E03-60B537C7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F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C69EA-F76D-4C39-8267-4F206030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RF/SEI 文献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D6B7C-7BB1-4D40-88AB-A09B9575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243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801B42-EC26-4194-8E1E-3094B250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767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空-频-极化联合指纹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ADAC0-4C5D-4EDE-86AC-EB8E0AFA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迁移到赛题：半球面测量 → 等效源/角域校准 → 少测点 → 多源状态识别</a:t>
            </a:r>
          </a:p>
        </p:txBody>
      </p:sp>
    </p:spTree>
    <p:extLst>
      <p:ext uri="{BB962C8B-B14F-4D97-AF65-F5344CB8AC3E}">
        <p14:creationId xmlns:p14="http://schemas.microsoft.com/office/powerpoint/2010/main" val="11062327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3E2EB521-10C3-4231-B37A-E316CC5A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8614307E-338C-40CF-8E2E-ACBAC217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AA4999B-58D9-4F72-8E4A-6A15CA78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5A26D12-AB66-489A-839E-FE1FD70A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39EB345-5800-4E8D-897B-216F15EF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CST 负责可信电磁数据源，Python 负责重建、识别和审计闭环</a:t>
            </a:r>
          </a:p>
        </p:txBody>
      </p:sp>
      <p:sp>
        <p:nvSpPr>
          <p:cNvPr id="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000B34F-3BA6-49F0-8AB7-7359CDAF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53A5306-68D5-4006-8CE0-D5105975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676B8-5DA4-4C53-94DC-356B1004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E9CCA-02D1-4AC3-918C-00C1A3B1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CST 建模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C26E4-386A-4D29-BB52-438C569F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标准源 / element-library / 简化结构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4F336-79F6-4C05-9887-FBE84DB5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323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8577F-75B4-4586-890C-7E92BB23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3835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7538D-C4EB-4EA6-AB2D-56BA2740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669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数据导出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67593-D90A-476C-BAAA-BC8032A8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nearfield / farfield / labels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79CE4-2B68-43C3-9F30-E7C0BFA7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8875"/>
            <a:ext cx="323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4A312-51CC-40E0-BAAA-297325A4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C8226-67D9-4FBF-8A21-37066AF7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算法处理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C4E0C-BDA7-4402-A742-4188748B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等效源重建 / 角域校准 / 特征工程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A1504-5AF3-463E-85B9-DF1A1AF6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323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1539D-8E80-4713-BDC7-9A7BDC7D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3835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0C074-DD5E-42E0-BE6D-6B9B574E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669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审计交付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774C5D-D271-4D94-8375-E44EF445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860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scorecard / completion audit / submission</a:t>
            </a:r>
          </a:p>
        </p:txBody>
      </p:sp>
      <p:sp>
        <p:nvSpPr>
          <p:cNvPr id="23" name="table-cell">
            <a:extLst xmlns:a="http://schemas.openxmlformats.org/drawingml/2006/main">
              <a:ext uri="{FF2B5EF4-FFF2-40B4-BE49-F238E27FC236}">
                <a16:creationId xmlns:a16="http://schemas.microsoft.com/office/drawing/2014/main" id="{09664F29-E7A1-4DA2-B9D9-CF0739B6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table-text">
            <a:extLst xmlns:a="http://schemas.openxmlformats.org/drawingml/2006/main">
              <a:ext uri="{FF2B5EF4-FFF2-40B4-BE49-F238E27FC236}">
                <a16:creationId xmlns:a16="http://schemas.microsoft.com/office/drawing/2014/main" id="{C8F5EFE6-3634-4C41-96B3-CD9A0CD5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529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Gate</a:t>
            </a:r>
          </a:p>
        </p:txBody>
      </p:sp>
      <p:sp>
        <p:nvSpPr>
          <p:cNvPr id="25" name="table-cell">
            <a:extLst xmlns:a="http://schemas.openxmlformats.org/drawingml/2006/main">
              <a:ext uri="{FF2B5EF4-FFF2-40B4-BE49-F238E27FC236}">
                <a16:creationId xmlns:a16="http://schemas.microsoft.com/office/drawing/2014/main" id="{72420B95-167E-435D-9DE6-9BC9A960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552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table-text">
            <a:extLst xmlns:a="http://schemas.openxmlformats.org/drawingml/2006/main">
              <a:ext uri="{FF2B5EF4-FFF2-40B4-BE49-F238E27FC236}">
                <a16:creationId xmlns:a16="http://schemas.microsoft.com/office/drawing/2014/main" id="{1FA5A150-F3C0-4B59-9003-27ABD92D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537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当前结果</a:t>
            </a:r>
          </a:p>
        </p:txBody>
      </p:sp>
      <p:sp>
        <p:nvSpPr>
          <p:cNvPr id="27" name="table-cell">
            <a:extLst xmlns:a="http://schemas.openxmlformats.org/drawingml/2006/main">
              <a:ext uri="{FF2B5EF4-FFF2-40B4-BE49-F238E27FC236}">
                <a16:creationId xmlns:a16="http://schemas.microsoft.com/office/drawing/2014/main" id="{634803E3-5D52-474A-8DD4-7B9A3758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339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table-text">
            <a:extLst xmlns:a="http://schemas.openxmlformats.org/drawingml/2006/main">
              <a:ext uri="{FF2B5EF4-FFF2-40B4-BE49-F238E27FC236}">
                <a16:creationId xmlns:a16="http://schemas.microsoft.com/office/drawing/2014/main" id="{723B6023-484D-45F6-8FB0-66A5AD24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101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G1/G2/G3/G4</a:t>
            </a:r>
          </a:p>
        </p:txBody>
      </p:sp>
      <p:sp>
        <p:nvSpPr>
          <p:cNvPr id="29" name="table-cell">
            <a:extLst xmlns:a="http://schemas.openxmlformats.org/drawingml/2006/main">
              <a:ext uri="{FF2B5EF4-FFF2-40B4-BE49-F238E27FC236}">
                <a16:creationId xmlns:a16="http://schemas.microsoft.com/office/drawing/2014/main" id="{D6AB65D9-4E0D-4922-96AF-4DDBC058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552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0" name="table-text">
            <a:extLst xmlns:a="http://schemas.openxmlformats.org/drawingml/2006/main">
              <a:ext uri="{FF2B5EF4-FFF2-40B4-BE49-F238E27FC236}">
                <a16:creationId xmlns:a16="http://schemas.microsoft.com/office/drawing/2014/main" id="{AC819963-240A-4B90-BFB4-503F616B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10150"/>
            <a:ext cx="537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complete</a:t>
            </a:r>
          </a:p>
        </p:txBody>
      </p:sp>
      <p:sp>
        <p:nvSpPr>
          <p:cNvPr id="31" name="table-cell">
            <a:extLst xmlns:a="http://schemas.openxmlformats.org/drawingml/2006/main">
              <a:ext uri="{FF2B5EF4-FFF2-40B4-BE49-F238E27FC236}">
                <a16:creationId xmlns:a16="http://schemas.microsoft.com/office/drawing/2014/main" id="{A9ECD917-94F3-4749-8B72-8EB27A5B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911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table-text">
            <a:extLst xmlns:a="http://schemas.openxmlformats.org/drawingml/2006/main">
              <a:ext uri="{FF2B5EF4-FFF2-40B4-BE49-F238E27FC236}">
                <a16:creationId xmlns:a16="http://schemas.microsoft.com/office/drawing/2014/main" id="{2780CCAA-24E6-4284-8EF2-712A7238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6735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G5</a:t>
            </a:r>
          </a:p>
        </p:txBody>
      </p:sp>
      <p:sp>
        <p:nvSpPr>
          <p:cNvPr id="33" name="table-cell">
            <a:extLst xmlns:a="http://schemas.openxmlformats.org/drawingml/2006/main">
              <a:ext uri="{FF2B5EF4-FFF2-40B4-BE49-F238E27FC236}">
                <a16:creationId xmlns:a16="http://schemas.microsoft.com/office/drawing/2014/main" id="{7A9B99E4-B104-42B7-AEAD-5092E5D8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91150"/>
            <a:ext cx="552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table-text">
            <a:extLst xmlns:a="http://schemas.openxmlformats.org/drawingml/2006/main">
              <a:ext uri="{FF2B5EF4-FFF2-40B4-BE49-F238E27FC236}">
                <a16:creationId xmlns:a16="http://schemas.microsoft.com/office/drawing/2014/main" id="{C94D97F8-4ABD-4A05-B4AD-CCAE9CBA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67350"/>
            <a:ext cx="537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partial：正式 PPTX/MP4 与最终审计仍需关闭</a:t>
            </a:r>
          </a:p>
        </p:txBody>
      </p:sp>
    </p:spTree>
    <p:extLst>
      <p:ext uri="{BB962C8B-B14F-4D97-AF65-F5344CB8AC3E}">
        <p14:creationId xmlns:p14="http://schemas.microsoft.com/office/powerpoint/2010/main" val="6556897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05559B60-65BE-4B3D-9746-7933DCEF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2776D0DC-7F42-4314-AA48-18D08D17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0E7C7D6-B2D0-46F7-AAC7-09999E7D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8B355DF-9869-4779-B73F-B486E70E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测量布局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E9983EA-AD06-422D-BC63-05058411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13 m 半球面 162 测点覆盖 12m x 10m x 8m 被测空间</a:t>
            </a:r>
          </a:p>
        </p:txBody>
      </p:sp>
      <p:sp>
        <p:nvSpPr>
          <p:cNvPr id="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CBF1A8A-14C4-4A45-870D-AFC7C83F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F81EDAC-092F-471F-B8A6-336ABA24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image-frame">
            <a:extLst xmlns:a="http://schemas.openxmlformats.org/drawingml/2006/main">
              <a:ext uri="{FF2B5EF4-FFF2-40B4-BE49-F238E27FC236}">
                <a16:creationId xmlns:a16="http://schemas.microsoft.com/office/drawing/2014/main" id="{07AD5FFF-90DA-4A35-82C5-032BB194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62674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e041500a748fd"/>
          <a:stretch xmlns:a="http://schemas.openxmlformats.org/drawingml/2006/main"/>
        </p:blipFill>
        <p:spPr>
          <a:xfrm xmlns:a="http://schemas.openxmlformats.org/drawingml/2006/main">
            <a:off x="1235075" y="1504950"/>
            <a:ext cx="5207000" cy="3905250"/>
          </a:xfrm>
          <a:prstGeom xmlns:a="http://schemas.openxmlformats.org/drawingml/2006/main" prst="rect">
            <a:avLst/>
          </a:prstGeom>
        </p:spPr>
      </p:pic>
      <p:sp>
        <p:nvSpPr>
          <p:cNvPr id="10" name="metric-box">
            <a:extLst xmlns:a="http://schemas.openxmlformats.org/drawingml/2006/main">
              <a:ext uri="{FF2B5EF4-FFF2-40B4-BE49-F238E27FC236}">
                <a16:creationId xmlns:a16="http://schemas.microsoft.com/office/drawing/2014/main" id="{9F3DF0EA-4E6F-407B-A594-CBBE5454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DC048136-7E9A-4675-ACFD-0CCBE753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D1F3CD1-39AC-4A56-A46B-8AA85E44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288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162</a:t>
            </a:r>
          </a:p>
        </p:txBody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526BEC0-7EE5-4625-BE76-BE89EC56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28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空间测点</a:t>
            </a:r>
          </a:p>
        </p:txBody>
      </p:sp>
      <p:sp>
        <p:nvSpPr>
          <p:cNvPr id="14" name="metric-box">
            <a:extLst xmlns:a="http://schemas.openxmlformats.org/drawingml/2006/main">
              <a:ext uri="{FF2B5EF4-FFF2-40B4-BE49-F238E27FC236}">
                <a16:creationId xmlns:a16="http://schemas.microsoft.com/office/drawing/2014/main" id="{32BDD68A-9193-4653-8152-DBECDEBC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EBB54614-BAEE-4756-9B89-CDD886A6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2EFCBCA2-4C24-43E1-BB7A-3BD628DD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718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324</a:t>
            </a:r>
          </a:p>
        </p:txBody>
      </p:sp>
      <p:sp>
        <p:nvSpPr>
          <p:cNvPr id="1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2B8A0BD-2719-4ADE-BB57-CC0C41E5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单频双极化通道</a:t>
            </a:r>
          </a:p>
        </p:txBody>
      </p:sp>
      <p:sp>
        <p:nvSpPr>
          <p:cNvPr id="18" name="metric-box">
            <a:extLst xmlns:a="http://schemas.openxmlformats.org/drawingml/2006/main">
              <a:ext uri="{FF2B5EF4-FFF2-40B4-BE49-F238E27FC236}">
                <a16:creationId xmlns:a16="http://schemas.microsoft.com/office/drawing/2014/main" id="{BA113375-45A6-48AE-B011-7A7147E5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92D2308E-8247-4972-89D3-E9E30B21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F951960-43AE-4A02-97D6-B71DE770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148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半球面</a:t>
            </a:r>
          </a:p>
        </p:txBody>
      </p:sp>
      <p:sp>
        <p:nvSpPr>
          <p:cNvPr id="2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5BA48A8-E003-4FAF-910A-02004238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执行路线</a:t>
            </a:r>
          </a:p>
        </p:txBody>
      </p:sp>
      <p:sp>
        <p:nvSpPr>
          <p:cNvPr id="22" name="note-box">
            <a:extLst xmlns:a="http://schemas.openxmlformats.org/drawingml/2006/main">
              <a:ext uri="{FF2B5EF4-FFF2-40B4-BE49-F238E27FC236}">
                <a16:creationId xmlns:a16="http://schemas.microsoft.com/office/drawing/2014/main" id="{7A862BB3-E297-43F0-AAA9-8208623E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91125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E2D2B8"/>
            </a:solidFill>
            <a:prstDash val="solid"/>
          </a:ln>
        </p:spPr>
      </p:sp>
      <p:sp>
        <p:nvSpPr>
          <p:cNvPr id="23" name="note-text">
            <a:extLst xmlns:a="http://schemas.openxmlformats.org/drawingml/2006/main">
              <a:ext uri="{FF2B5EF4-FFF2-40B4-BE49-F238E27FC236}">
                <a16:creationId xmlns:a16="http://schemas.microsoft.com/office/drawing/2014/main" id="{C9D13E19-DA9B-4876-A5ED-7F23762B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86375"/>
            <a:ext cx="299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半柱面保留为后续工程扩展；本轮 CST Level 1/2 与所有审计均以半球面测点表为准。</a:t>
            </a:r>
          </a:p>
        </p:txBody>
      </p:sp>
    </p:spTree>
    <p:extLst>
      <p:ext uri="{BB962C8B-B14F-4D97-AF65-F5344CB8AC3E}">
        <p14:creationId xmlns:p14="http://schemas.microsoft.com/office/powerpoint/2010/main" val="3759364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708F02D-B10A-45FD-89E8-A9696E55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18005F73-F899-4438-9F26-6A3ECA09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A036DD-FD9F-4351-A070-DCD1B6E9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74B1F4-E907-476F-95AC-D2CC7B7A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LEVEL 1 标准源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BDA2263-F1B7-4987-BBF1-58ACEC52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FarfieldPlot-derived 角域样本与 CST 远场真值高度一致</a:t>
            </a:r>
          </a:p>
        </p:txBody>
      </p:sp>
      <p:sp>
        <p:nvSpPr>
          <p:cNvPr id="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DA2F433E-DBB1-4A67-9D16-E7F65D01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948A770-6CE0-4D16-9B36-367A76B6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image-frame">
            <a:extLst xmlns:a="http://schemas.openxmlformats.org/drawingml/2006/main">
              <a:ext uri="{FF2B5EF4-FFF2-40B4-BE49-F238E27FC236}">
                <a16:creationId xmlns:a16="http://schemas.microsoft.com/office/drawing/2014/main" id="{C5238D72-D7F5-4AA7-8928-2EDCB332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62674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6136784524a13"/>
          <a:stretch xmlns:a="http://schemas.openxmlformats.org/drawingml/2006/main"/>
        </p:blipFill>
        <p:spPr>
          <a:xfrm xmlns:a="http://schemas.openxmlformats.org/drawingml/2006/main">
            <a:off x="762000" y="2390580"/>
            <a:ext cx="6191250" cy="1943490"/>
          </a:xfrm>
          <a:prstGeom xmlns:a="http://schemas.openxmlformats.org/drawingml/2006/main" prst="rect">
            <a:avLst/>
          </a:prstGeom>
        </p:spPr>
      </p:pic>
      <p:sp>
        <p:nvSpPr>
          <p:cNvPr id="10" name="metric-box">
            <a:extLst xmlns:a="http://schemas.openxmlformats.org/drawingml/2006/main">
              <a:ext uri="{FF2B5EF4-FFF2-40B4-BE49-F238E27FC236}">
                <a16:creationId xmlns:a16="http://schemas.microsoft.com/office/drawing/2014/main" id="{E53474E5-8EA0-4F01-9422-2E79A21A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3830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B4256D5-3C0B-4E26-85ED-5C02207C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383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8D9024B-D263-411E-BF14-33099691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526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8.41e-05</a:t>
            </a:r>
          </a:p>
        </p:txBody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9A35768-32C0-43F4-A779-99398791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526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max NMSE</a:t>
            </a:r>
          </a:p>
        </p:txBody>
      </p:sp>
      <p:sp>
        <p:nvSpPr>
          <p:cNvPr id="14" name="metric-box">
            <a:extLst xmlns:a="http://schemas.openxmlformats.org/drawingml/2006/main">
              <a:ext uri="{FF2B5EF4-FFF2-40B4-BE49-F238E27FC236}">
                <a16:creationId xmlns:a16="http://schemas.microsoft.com/office/drawing/2014/main" id="{DA7F8D05-BC72-4AB1-9021-99AF5BE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EA85CC23-B99F-4A56-8D3A-47E3A579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A305147-6C77-4578-8F21-18C261FD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0.99988</a:t>
            </a:r>
          </a:p>
        </p:txBody>
      </p:sp>
      <p:sp>
        <p:nvSpPr>
          <p:cNvPr id="1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7B7B9E0-B778-4D4E-A0DC-708005FE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956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min corr</a:t>
            </a:r>
          </a:p>
        </p:txBody>
      </p:sp>
      <p:sp>
        <p:nvSpPr>
          <p:cNvPr id="18" name="metric-box">
            <a:extLst xmlns:a="http://schemas.openxmlformats.org/drawingml/2006/main">
              <a:ext uri="{FF2B5EF4-FFF2-40B4-BE49-F238E27FC236}">
                <a16:creationId xmlns:a16="http://schemas.microsoft.com/office/drawing/2014/main" id="{0A4D0744-ABC6-452B-9573-CB556EC2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2430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CC18431-59B0-4FDC-9C5E-A8B27A3B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243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E7714C5-174E-4BFF-9D1F-3543E5E1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386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0.00°</a:t>
            </a:r>
          </a:p>
        </p:txBody>
      </p:sp>
      <p:sp>
        <p:nvSpPr>
          <p:cNvPr id="2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5A1628D-1C2D-4F3F-9E50-31F5D630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386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主瓣误差</a:t>
            </a:r>
          </a:p>
        </p:txBody>
      </p:sp>
      <p:sp>
        <p:nvSpPr>
          <p:cNvPr id="22" name="note-box">
            <a:extLst xmlns:a="http://schemas.openxmlformats.org/drawingml/2006/main">
              <a:ext uri="{FF2B5EF4-FFF2-40B4-BE49-F238E27FC236}">
                <a16:creationId xmlns:a16="http://schemas.microsoft.com/office/drawing/2014/main" id="{31A626EA-00C4-4362-B94E-9C0319A5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D8"/>
          </a:solidFill>
          <a:ln xmlns:a="http://schemas.openxmlformats.org/drawingml/2006/main" w="9525">
            <a:solidFill>
              <a:srgbClr val="E2D2B8"/>
            </a:solidFill>
            <a:prstDash val="solid"/>
          </a:ln>
        </p:spPr>
      </p:sp>
      <p:sp>
        <p:nvSpPr>
          <p:cNvPr id="23" name="note-text">
            <a:extLst xmlns:a="http://schemas.openxmlformats.org/drawingml/2006/main">
              <a:ext uri="{FF2B5EF4-FFF2-40B4-BE49-F238E27FC236}">
                <a16:creationId xmlns:a16="http://schemas.microsoft.com/office/drawing/2014/main" id="{1AF90406-BDD1-45FD-B6C7-FDF2CA9E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14950"/>
            <a:ext cx="337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边界：该通道证明 solver-safe 角域一致性；full-wave near-field monitor 等效源反演仍作为模型风险说明。</a:t>
            </a:r>
          </a:p>
        </p:txBody>
      </p:sp>
    </p:spTree>
    <p:extLst>
      <p:ext uri="{BB962C8B-B14F-4D97-AF65-F5344CB8AC3E}">
        <p14:creationId xmlns:p14="http://schemas.microsoft.com/office/powerpoint/2010/main" val="21327745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160FBFD-0DD9-409B-8717-AC1B9103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90E648A-D2F4-48C8-8D9E-B83A2839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9F33A31-3095-429D-912D-AF869FE6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F0A019D-98EA-4AD1-9046-B455FC60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重建算法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A930047-1AAB-4C42-A692-EB450D7F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把有限半球面观测转成可外推的等效源，再由正则化控制病态反演</a:t>
            </a:r>
          </a:p>
        </p:txBody>
      </p:sp>
      <p:sp>
        <p:nvSpPr>
          <p:cNvPr id="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FDB0EA0F-5709-4F6B-98A3-2A0E8D94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5692E31-1EF9-48F9-B65C-29253C1A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2C67D-BE7B-4947-B954-64F2727F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954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E_meas = G_nf · J + 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25E0C-936E-4C8A-8E81-17BEFEF8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5745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J* = argmin ||G_nf J - E||² + λ ||J||²</a:t>
            </a:r>
          </a:p>
        </p:txBody>
      </p:sp>
      <p:sp>
        <p:nvSpPr>
          <p:cNvPr id="10" name="table-cell">
            <a:extLst xmlns:a="http://schemas.openxmlformats.org/drawingml/2006/main">
              <a:ext uri="{FF2B5EF4-FFF2-40B4-BE49-F238E27FC236}">
                <a16:creationId xmlns:a16="http://schemas.microsoft.com/office/drawing/2014/main" id="{6C80DDA5-DF4D-40E5-9D02-F0661706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67125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table-text">
            <a:extLst xmlns:a="http://schemas.openxmlformats.org/drawingml/2006/main">
              <a:ext uri="{FF2B5EF4-FFF2-40B4-BE49-F238E27FC236}">
                <a16:creationId xmlns:a16="http://schemas.microsoft.com/office/drawing/2014/main" id="{C7F62841-CD33-41B5-B1DB-5CA5494F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43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2" name="table-cell">
            <a:extLst xmlns:a="http://schemas.openxmlformats.org/drawingml/2006/main">
              <a:ext uri="{FF2B5EF4-FFF2-40B4-BE49-F238E27FC236}">
                <a16:creationId xmlns:a16="http://schemas.microsoft.com/office/drawing/2014/main" id="{78869B0C-65AB-491D-9287-09DCABD1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67125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table-text">
            <a:extLst xmlns:a="http://schemas.openxmlformats.org/drawingml/2006/main">
              <a:ext uri="{FF2B5EF4-FFF2-40B4-BE49-F238E27FC236}">
                <a16:creationId xmlns:a16="http://schemas.microsoft.com/office/drawing/2014/main" id="{50BD326D-BB90-47F7-A532-B790CCB2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43325"/>
            <a:ext cx="641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半球面 Ex/Ey/Ez 复数场</a:t>
            </a:r>
          </a:p>
        </p:txBody>
      </p:sp>
      <p:sp>
        <p:nvSpPr>
          <p:cNvPr id="14" name="table-cell">
            <a:extLst xmlns:a="http://schemas.openxmlformats.org/drawingml/2006/main">
              <a:ext uri="{FF2B5EF4-FFF2-40B4-BE49-F238E27FC236}">
                <a16:creationId xmlns:a16="http://schemas.microsoft.com/office/drawing/2014/main" id="{9566FF76-25C9-4193-861E-A52891D7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81475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table-text">
            <a:extLst xmlns:a="http://schemas.openxmlformats.org/drawingml/2006/main">
              <a:ext uri="{FF2B5EF4-FFF2-40B4-BE49-F238E27FC236}">
                <a16:creationId xmlns:a16="http://schemas.microsoft.com/office/drawing/2014/main" id="{DCC022C8-EE8F-40BC-97E6-0DC09409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2576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求解</a:t>
            </a:r>
          </a:p>
        </p:txBody>
      </p:sp>
      <p:sp>
        <p:nvSpPr>
          <p:cNvPr id="16" name="table-cell">
            <a:extLst xmlns:a="http://schemas.openxmlformats.org/drawingml/2006/main">
              <a:ext uri="{FF2B5EF4-FFF2-40B4-BE49-F238E27FC236}">
                <a16:creationId xmlns:a16="http://schemas.microsoft.com/office/drawing/2014/main" id="{D86EAE4C-7F5E-41D4-8758-2FB4E3F2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81475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table-text">
            <a:extLst xmlns:a="http://schemas.openxmlformats.org/drawingml/2006/main">
              <a:ext uri="{FF2B5EF4-FFF2-40B4-BE49-F238E27FC236}">
                <a16:creationId xmlns:a16="http://schemas.microsoft.com/office/drawing/2014/main" id="{3F24B438-17F2-4F92-9DCA-CC5C07F3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257675"/>
            <a:ext cx="641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Tikhonov/SVD 稳定反演</a:t>
            </a:r>
          </a:p>
        </p:txBody>
      </p:sp>
      <p:sp>
        <p:nvSpPr>
          <p:cNvPr id="18" name="table-cell">
            <a:extLst xmlns:a="http://schemas.openxmlformats.org/drawingml/2006/main">
              <a:ext uri="{FF2B5EF4-FFF2-40B4-BE49-F238E27FC236}">
                <a16:creationId xmlns:a16="http://schemas.microsoft.com/office/drawing/2014/main" id="{3A092396-B685-4A94-8D87-32552EFF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95825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table-text">
            <a:extLst xmlns:a="http://schemas.openxmlformats.org/drawingml/2006/main">
              <a:ext uri="{FF2B5EF4-FFF2-40B4-BE49-F238E27FC236}">
                <a16:creationId xmlns:a16="http://schemas.microsoft.com/office/drawing/2014/main" id="{A4DCCE99-935B-4D97-B25A-89D483AF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7720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0" name="table-cell">
            <a:extLst xmlns:a="http://schemas.openxmlformats.org/drawingml/2006/main">
              <a:ext uri="{FF2B5EF4-FFF2-40B4-BE49-F238E27FC236}">
                <a16:creationId xmlns:a16="http://schemas.microsoft.com/office/drawing/2014/main" id="{AF33915A-BC96-4561-8193-241971B8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95825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table-text">
            <a:extLst xmlns:a="http://schemas.openxmlformats.org/drawingml/2006/main">
              <a:ext uri="{FF2B5EF4-FFF2-40B4-BE49-F238E27FC236}">
                <a16:creationId xmlns:a16="http://schemas.microsoft.com/office/drawing/2014/main" id="{E07DF12B-809D-4AE6-9085-03F7676A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772025"/>
            <a:ext cx="641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远场方向图与主瓣/相关系数/NMSE</a:t>
            </a:r>
          </a:p>
        </p:txBody>
      </p:sp>
      <p:sp>
        <p:nvSpPr>
          <p:cNvPr id="22" name="table-cell">
            <a:extLst xmlns:a="http://schemas.openxmlformats.org/drawingml/2006/main">
              <a:ext uri="{FF2B5EF4-FFF2-40B4-BE49-F238E27FC236}">
                <a16:creationId xmlns:a16="http://schemas.microsoft.com/office/drawing/2014/main" id="{35596E77-1EBD-4257-8813-92AE4AC5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10175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table-text">
            <a:extLst xmlns:a="http://schemas.openxmlformats.org/drawingml/2006/main">
              <a:ext uri="{FF2B5EF4-FFF2-40B4-BE49-F238E27FC236}">
                <a16:creationId xmlns:a16="http://schemas.microsoft.com/office/drawing/2014/main" id="{E2C66C39-D26E-4B40-BFE5-0FF11A64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2863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4" name="table-cell">
            <a:extLst xmlns:a="http://schemas.openxmlformats.org/drawingml/2006/main">
              <a:ext uri="{FF2B5EF4-FFF2-40B4-BE49-F238E27FC236}">
                <a16:creationId xmlns:a16="http://schemas.microsoft.com/office/drawing/2014/main" id="{D742D8B8-A252-44D9-84D6-E31CFABD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10175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table-text">
            <a:extLst xmlns:a="http://schemas.openxmlformats.org/drawingml/2006/main">
              <a:ext uri="{FF2B5EF4-FFF2-40B4-BE49-F238E27FC236}">
                <a16:creationId xmlns:a16="http://schemas.microsoft.com/office/drawing/2014/main" id="{9A4458EB-6494-4088-8454-BF282648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286375"/>
            <a:ext cx="641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FarfieldPlot 角域样本不直接等同 full-wave 近场 monitor</a:t>
            </a:r>
          </a:p>
        </p:txBody>
      </p:sp>
    </p:spTree>
    <p:extLst>
      <p:ext uri="{BB962C8B-B14F-4D97-AF65-F5344CB8AC3E}">
        <p14:creationId xmlns:p14="http://schemas.microsoft.com/office/powerpoint/2010/main" val="4150089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7E20DA9D-B89A-469B-9144-7183FF25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442E4ADC-46FD-4C09-85D3-542582EA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C030D9-2931-40F4-9B1E-E6FB0D81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77E64B7-D752-4801-965B-AD15A704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少测点优化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0C8937F-1B43-4E99-81BD-86CAD55F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合成鲁棒性扫描显示 75% 测点更稳，50% 可作为压缩候选</a:t>
            </a:r>
          </a:p>
        </p:txBody>
      </p:sp>
      <p:sp>
        <p:nvSpPr>
          <p:cNvPr id="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25ABAA0-B4F1-4281-82D3-716797C2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CDCF2B2-308A-4239-9CD3-9C6A8B18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image-frame">
            <a:extLst xmlns:a="http://schemas.openxmlformats.org/drawingml/2006/main">
              <a:ext uri="{FF2B5EF4-FFF2-40B4-BE49-F238E27FC236}">
                <a16:creationId xmlns:a16="http://schemas.microsoft.com/office/drawing/2014/main" id="{BDB574D3-0AD7-4763-838A-5405C4ED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65532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96028ea814a9f"/>
          <a:stretch xmlns:a="http://schemas.openxmlformats.org/drawingml/2006/main"/>
        </p:blipFill>
        <p:spPr>
          <a:xfrm xmlns:a="http://schemas.openxmlformats.org/drawingml/2006/main">
            <a:off x="1123950" y="1543050"/>
            <a:ext cx="5715000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bullet-dot">
            <a:extLst xmlns:a="http://schemas.openxmlformats.org/drawingml/2006/main">
              <a:ext uri="{FF2B5EF4-FFF2-40B4-BE49-F238E27FC236}">
                <a16:creationId xmlns:a16="http://schemas.microsoft.com/office/drawing/2014/main" id="{801ABA6F-1740-45EC-B0A3-5E095D95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85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9FA939FF-61CF-4344-A690-D668B42E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9750"/>
            <a:ext cx="2971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30 dB 下 optimized_75：NMSE≈1.13e-3，corr≈0.9983</a:t>
            </a:r>
          </a:p>
        </p:txBody>
      </p:sp>
      <p:sp>
        <p:nvSpPr>
          <p:cNvPr id="12" name="bullet-dot">
            <a:extLst xmlns:a="http://schemas.openxmlformats.org/drawingml/2006/main">
              <a:ext uri="{FF2B5EF4-FFF2-40B4-BE49-F238E27FC236}">
                <a16:creationId xmlns:a16="http://schemas.microsoft.com/office/drawing/2014/main" id="{E9126F22-F11B-4A06-A799-6CDBA0B3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95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bullet-text">
            <a:extLst xmlns:a="http://schemas.openxmlformats.org/drawingml/2006/main">
              <a:ext uri="{FF2B5EF4-FFF2-40B4-BE49-F238E27FC236}">
                <a16:creationId xmlns:a16="http://schemas.microsoft.com/office/drawing/2014/main" id="{14139094-0306-49D5-AF3E-94F580B5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19375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optimized_50 相关性仍高，但主瓣定位需结合真实 CST 边界说明</a:t>
            </a:r>
          </a:p>
        </p:txBody>
      </p:sp>
      <p:sp>
        <p:nvSpPr>
          <p:cNvPr id="14" name="bullet-dot">
            <a:extLst xmlns:a="http://schemas.openxmlformats.org/drawingml/2006/main">
              <a:ext uri="{FF2B5EF4-FFF2-40B4-BE49-F238E27FC236}">
                <a16:creationId xmlns:a16="http://schemas.microsoft.com/office/drawing/2014/main" id="{C0B44800-4130-406C-841C-07401BAF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bullet-text">
            <a:extLst xmlns:a="http://schemas.openxmlformats.org/drawingml/2006/main">
              <a:ext uri="{FF2B5EF4-FFF2-40B4-BE49-F238E27FC236}">
                <a16:creationId xmlns:a16="http://schemas.microsoft.com/office/drawing/2014/main" id="{6A695831-1999-4D41-82DE-369ECD3D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19500"/>
            <a:ext cx="2971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25% 暂不作为主方案，只保留为极限对照</a:t>
            </a:r>
          </a:p>
        </p:txBody>
      </p:sp>
      <p:sp>
        <p:nvSpPr>
          <p:cNvPr id="16" name="note-box">
            <a:extLst xmlns:a="http://schemas.openxmlformats.org/drawingml/2006/main">
              <a:ext uri="{FF2B5EF4-FFF2-40B4-BE49-F238E27FC236}">
                <a16:creationId xmlns:a16="http://schemas.microsoft.com/office/drawing/2014/main" id="{A3AD06F5-D30E-4BA8-B99B-CA123BEC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05375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E2D2B8"/>
            </a:solidFill>
            <a:prstDash val="solid"/>
          </a:ln>
        </p:spPr>
      </p:sp>
      <p:sp>
        <p:nvSpPr>
          <p:cNvPr id="17" name="note-text">
            <a:extLst xmlns:a="http://schemas.openxmlformats.org/drawingml/2006/main">
              <a:ext uri="{FF2B5EF4-FFF2-40B4-BE49-F238E27FC236}">
                <a16:creationId xmlns:a16="http://schemas.microsoft.com/office/drawing/2014/main" id="{D7871051-A0A2-4097-BEA3-9142C133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00625"/>
            <a:ext cx="3086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该页作为算法鲁棒性参考，不替代 Level 1 required 高精度证明。</a:t>
            </a:r>
          </a:p>
        </p:txBody>
      </p:sp>
    </p:spTree>
    <p:extLst>
      <p:ext uri="{BB962C8B-B14F-4D97-AF65-F5344CB8AC3E}">
        <p14:creationId xmlns:p14="http://schemas.microsoft.com/office/powerpoint/2010/main" val="12345513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02998558-8039-4594-B0BB-7B36DE8E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C9B0643-1392-43B5-BCA5-D5ED1D34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B2D415D-CC25-4466-9A0E-929F2A39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B731FE3-A226-479F-907F-F9353A3B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LEVEL 2 多源识别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19E71D5-79E2-48E7-B8A4-F079E1D0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48 个 CST-derived 样本上，空-频-极化特征超过 85% 指标线</a:t>
            </a:r>
          </a:p>
        </p:txBody>
      </p:sp>
      <p:sp>
        <p:nvSpPr>
          <p:cNvPr id="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156BC77-F0CC-479F-993B-545F8827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BFC856F-D945-4544-A0F2-C5C1D078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image-frame">
            <a:extLst xmlns:a="http://schemas.openxmlformats.org/drawingml/2006/main">
              <a:ext uri="{FF2B5EF4-FFF2-40B4-BE49-F238E27FC236}">
                <a16:creationId xmlns:a16="http://schemas.microsoft.com/office/drawing/2014/main" id="{13AA2EDA-F390-4C33-BD2E-5266BE8C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51244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ee346318e4ee4"/>
          <a:stretch xmlns:a="http://schemas.openxmlformats.org/drawingml/2006/main"/>
        </p:blipFill>
        <p:spPr>
          <a:xfrm xmlns:a="http://schemas.openxmlformats.org/drawingml/2006/main">
            <a:off x="1005052" y="1428750"/>
            <a:ext cx="4943147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metric-box">
            <a:extLst xmlns:a="http://schemas.openxmlformats.org/drawingml/2006/main">
              <a:ext uri="{FF2B5EF4-FFF2-40B4-BE49-F238E27FC236}">
                <a16:creationId xmlns:a16="http://schemas.microsoft.com/office/drawing/2014/main" id="{58C0DCBB-70AD-4008-AC00-563DE45F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977547E3-8726-4D49-AB69-CDAE9C9A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2BD1C83-6581-443C-9FD7-F3611D20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716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48/48</a:t>
            </a:r>
          </a:p>
        </p:txBody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E38E7C3-58AD-4FFB-8DCA-E2021B06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样本完整度</a:t>
            </a:r>
          </a:p>
        </p:txBody>
      </p:sp>
      <p:sp>
        <p:nvSpPr>
          <p:cNvPr id="14" name="metric-box">
            <a:extLst xmlns:a="http://schemas.openxmlformats.org/drawingml/2006/main">
              <a:ext uri="{FF2B5EF4-FFF2-40B4-BE49-F238E27FC236}">
                <a16:creationId xmlns:a16="http://schemas.microsoft.com/office/drawing/2014/main" id="{3402D764-B3A7-4001-B3D2-EC4C0F91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03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DFDF353F-2879-4CC4-A80E-090754C3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03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593274A-2A7F-498B-A188-58F8E24F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4965</a:t>
            </a:r>
          </a:p>
        </p:txBody>
      </p:sp>
      <p:sp>
        <p:nvSpPr>
          <p:cNvPr id="1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3F15732C-6AB8-49AC-8665-1682C23C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特征维度</a:t>
            </a:r>
          </a:p>
        </p:txBody>
      </p:sp>
      <p:sp>
        <p:nvSpPr>
          <p:cNvPr id="18" name="metric-box">
            <a:extLst xmlns:a="http://schemas.openxmlformats.org/drawingml/2006/main">
              <a:ext uri="{FF2B5EF4-FFF2-40B4-BE49-F238E27FC236}">
                <a16:creationId xmlns:a16="http://schemas.microsoft.com/office/drawing/2014/main" id="{8EC3077F-DA67-4972-BF78-6EE3F24E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CD23696C-AE68-42AF-8D25-06E15D0A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7C2C47F-5B79-4062-92FD-772B1454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576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2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C358236-A0BF-47A3-8577-7CD41350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57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SVM accuracy</a:t>
            </a:r>
          </a:p>
        </p:txBody>
      </p:sp>
      <p:sp>
        <p:nvSpPr>
          <p:cNvPr id="22" name="note-box">
            <a:extLst xmlns:a="http://schemas.openxmlformats.org/drawingml/2006/main">
              <a:ext uri="{FF2B5EF4-FFF2-40B4-BE49-F238E27FC236}">
                <a16:creationId xmlns:a16="http://schemas.microsoft.com/office/drawing/2014/main" id="{6D736A3E-2218-4B51-8123-E0639276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09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D8"/>
          </a:solidFill>
          <a:ln xmlns:a="http://schemas.openxmlformats.org/drawingml/2006/main" w="9525">
            <a:solidFill>
              <a:srgbClr val="E2D2B8"/>
            </a:solidFill>
            <a:prstDash val="solid"/>
          </a:ln>
        </p:spPr>
      </p:sp>
      <p:sp>
        <p:nvSpPr>
          <p:cNvPr id="23" name="note-text">
            <a:extLst xmlns:a="http://schemas.openxmlformats.org/drawingml/2006/main">
              <a:ext uri="{FF2B5EF4-FFF2-40B4-BE49-F238E27FC236}">
                <a16:creationId xmlns:a16="http://schemas.microsoft.com/office/drawing/2014/main" id="{C0D0DA83-3EDF-4012-BB02-51FE9686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14950"/>
            <a:ext cx="3752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证据性质：CST-derived element-library superposition；结构影响由下一页 bounded 对照约束。</a:t>
            </a:r>
          </a:p>
        </p:txBody>
      </p:sp>
    </p:spTree>
    <p:extLst>
      <p:ext uri="{BB962C8B-B14F-4D97-AF65-F5344CB8AC3E}">
        <p14:creationId xmlns:p14="http://schemas.microsoft.com/office/powerpoint/2010/main" val="7208317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DFE7D832-EC5B-4B94-9176-DD6D80C4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24CF8EED-A57C-4C03-BE21-7570B3CB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C070AC-8104-42A7-9BE4-EEF571B6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0BE437-7323-47F0-A42C-F59FBA1D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结构遮挡对照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B70949D-5A93-4FAA-82C6-77BE0C43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简化机体遮挡会改变方向图，但识别特征保持跨域稳定</a:t>
            </a:r>
          </a:p>
        </p:txBody>
      </p:sp>
      <p:sp>
        <p:nvSpPr>
          <p:cNvPr id="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07162F08-727F-454E-A2BB-77846CA9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F93D558-CA2D-4836-84E3-C168EAE2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image-frame">
            <a:extLst xmlns:a="http://schemas.openxmlformats.org/drawingml/2006/main">
              <a:ext uri="{FF2B5EF4-FFF2-40B4-BE49-F238E27FC236}">
                <a16:creationId xmlns:a16="http://schemas.microsoft.com/office/drawing/2014/main" id="{9F345DA3-EC99-45C6-BAF1-72A5BA74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457950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4a55540284d1c"/>
          <a:stretch xmlns:a="http://schemas.openxmlformats.org/drawingml/2006/main"/>
        </p:blipFill>
        <p:spPr>
          <a:xfrm xmlns:a="http://schemas.openxmlformats.org/drawingml/2006/main">
            <a:off x="647700" y="2403195"/>
            <a:ext cx="6381750" cy="2003985"/>
          </a:xfrm>
          <a:prstGeom xmlns:a="http://schemas.openxmlformats.org/drawingml/2006/main" prst="rect">
            <a:avLst/>
          </a:prstGeom>
        </p:spPr>
      </p:pic>
      <p:sp>
        <p:nvSpPr>
          <p:cNvPr id="10" name="metric-box">
            <a:extLst xmlns:a="http://schemas.openxmlformats.org/drawingml/2006/main">
              <a:ext uri="{FF2B5EF4-FFF2-40B4-BE49-F238E27FC236}">
                <a16:creationId xmlns:a16="http://schemas.microsoft.com/office/drawing/2014/main" id="{77D8D6EC-732A-4E80-9D08-E29FF6C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FD4EABB4-FDE5-4F19-973A-0D6C1365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23406CF-6C64-4905-B070-4858A9DF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335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3.06 dB</a:t>
            </a:r>
          </a:p>
        </p:txBody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EAE5945-7EC4-4CC3-8F58-397E2BFA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33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mean shadow</a:t>
            </a:r>
          </a:p>
        </p:txBody>
      </p:sp>
      <p:sp>
        <p:nvSpPr>
          <p:cNvPr id="14" name="metric-box">
            <a:extLst xmlns:a="http://schemas.openxmlformats.org/drawingml/2006/main">
              <a:ext uri="{FF2B5EF4-FFF2-40B4-BE49-F238E27FC236}">
                <a16:creationId xmlns:a16="http://schemas.microsoft.com/office/drawing/2014/main" id="{4BCE4173-58F0-44CB-9847-E4E5EBB8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6225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D1F68495-5EA1-4102-9F15-EA6BFC20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62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99D2BE3-6FAF-41E2-A22C-3F5AB3B1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765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6.63 dB</a:t>
            </a:r>
          </a:p>
        </p:txBody>
      </p:sp>
      <p:sp>
        <p:nvSpPr>
          <p:cNvPr id="1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335480F2-AD1F-4BB9-A478-D0874DAC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76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P95 shadow</a:t>
            </a:r>
          </a:p>
        </p:txBody>
      </p:sp>
      <p:sp>
        <p:nvSpPr>
          <p:cNvPr id="18" name="metric-box">
            <a:extLst xmlns:a="http://schemas.openxmlformats.org/drawingml/2006/main">
              <a:ext uri="{FF2B5EF4-FFF2-40B4-BE49-F238E27FC236}">
                <a16:creationId xmlns:a16="http://schemas.microsoft.com/office/drawing/2014/main" id="{F04F930E-CE76-4CCA-8D60-DE7C265D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C4C1243D-48DC-4950-8EA4-0CF2C5CA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5807F3D-626E-4807-B8FF-6D8ACE23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195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2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7D1B2ED-2DAF-4891-A00A-21F916B3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19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cross-domain</a:t>
            </a:r>
          </a:p>
        </p:txBody>
      </p:sp>
      <p:sp>
        <p:nvSpPr>
          <p:cNvPr id="22" name="note-box">
            <a:extLst xmlns:a="http://schemas.openxmlformats.org/drawingml/2006/main">
              <a:ext uri="{FF2B5EF4-FFF2-40B4-BE49-F238E27FC236}">
                <a16:creationId xmlns:a16="http://schemas.microsoft.com/office/drawing/2014/main" id="{B6575BBC-4519-41AA-919D-3BDEB298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19700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D8"/>
          </a:solidFill>
          <a:ln xmlns:a="http://schemas.openxmlformats.org/drawingml/2006/main" w="9525">
            <a:solidFill>
              <a:srgbClr val="E2D2B8"/>
            </a:solidFill>
            <a:prstDash val="solid"/>
          </a:ln>
        </p:spPr>
      </p:sp>
      <p:sp>
        <p:nvSpPr>
          <p:cNvPr id="23" name="note-text">
            <a:extLst xmlns:a="http://schemas.openxmlformats.org/drawingml/2006/main">
              <a:ext uri="{FF2B5EF4-FFF2-40B4-BE49-F238E27FC236}">
                <a16:creationId xmlns:a16="http://schemas.microsoft.com/office/drawing/2014/main" id="{287712F2-0137-42BE-907A-B228BA8C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14950"/>
            <a:ext cx="3752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这是 simplified aircraft occlusion transfer，不是 full-wave CST airframe scattering；用于报告中保守约束结论边界。</a:t>
            </a:r>
          </a:p>
        </p:txBody>
      </p:sp>
    </p:spTree>
    <p:extLst>
      <p:ext uri="{BB962C8B-B14F-4D97-AF65-F5344CB8AC3E}">
        <p14:creationId xmlns:p14="http://schemas.microsoft.com/office/powerpoint/2010/main" val="10058144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6657E3EB-FACF-4093-B7B4-5D96D1F4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5AA566A-618B-4572-B4FB-4334E3B1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82462D0-3920-41F4-99AA-630FDC04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286613C-694E-4328-ACF0-18DE9F4D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创新点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7C1938C-1545-4A10-81E3-602DAA80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创新不在单个脚本，而在物理模型、测点压缩、联合指纹和可复现审计的组合</a:t>
            </a:r>
          </a:p>
        </p:txBody>
      </p:sp>
      <p:sp>
        <p:nvSpPr>
          <p:cNvPr id="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F482D49-76BE-48AD-A92C-937D2B5B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5FB2FD2-B8C0-454E-99EC-F03CAEAA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559EA-0D8F-40AB-B350-DABDEC2A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191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6B47B-6552-4302-9CDF-57586F97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受限域等效源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E465E-355C-43C2-AF5A-EB9AC8D5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把复杂辐射体替换为可计算、可诊断的源分布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C8DC4-F934-4E37-82DB-D8521071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76400"/>
            <a:ext cx="4191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92CCC-B3DA-4E9F-8DF8-41B60752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半球面少测点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E8E34-C505-465D-A367-9A7DDE59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162 点全量与 75/50/25% 压缩对照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4A3F0-8F1F-4C22-99E6-B22040C2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4191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D011C-B720-413C-847B-7A6C11B0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空频极化指纹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09E41-9C71-4566-B2C7-189FE528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方向图、相位、频谱和极化联合表征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5E580-1EF7-495A-B9AB-D062A066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95650"/>
            <a:ext cx="4191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117E1-4B0D-477F-8C23-844F840E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CST-Python 审计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0B0C4-7122-4688-A4FD-42BD6E2D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manifest、strict merge、scorecard、completion audit</a:t>
            </a:r>
          </a:p>
        </p:txBody>
      </p:sp>
      <p:sp>
        <p:nvSpPr>
          <p:cNvPr id="20" name="note-box">
            <a:extLst xmlns:a="http://schemas.openxmlformats.org/drawingml/2006/main">
              <a:ext uri="{FF2B5EF4-FFF2-40B4-BE49-F238E27FC236}">
                <a16:creationId xmlns:a16="http://schemas.microsoft.com/office/drawing/2014/main" id="{0B364FE4-6A18-4AE4-B6D3-F1483B49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E2D2B8"/>
            </a:solidFill>
            <a:prstDash val="solid"/>
          </a:ln>
        </p:spPr>
      </p:sp>
      <p:sp>
        <p:nvSpPr>
          <p:cNvPr id="21" name="note-text">
            <a:extLst xmlns:a="http://schemas.openxmlformats.org/drawingml/2006/main">
              <a:ext uri="{FF2B5EF4-FFF2-40B4-BE49-F238E27FC236}">
                <a16:creationId xmlns:a16="http://schemas.microsoft.com/office/drawing/2014/main" id="{DC41B623-73F3-4D09-8C91-0D4CEECD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861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答辩口径：先讲评分项对应证据，再讲边界；不把 simplified 结构对照包装成 full-wave airframe。</a:t>
            </a:r>
          </a:p>
        </p:txBody>
      </p:sp>
    </p:spTree>
    <p:extLst>
      <p:ext uri="{BB962C8B-B14F-4D97-AF65-F5344CB8AC3E}">
        <p14:creationId xmlns:p14="http://schemas.microsoft.com/office/powerpoint/2010/main" val="7446936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5F2AAF48-91CD-453F-ADF0-06CE7E18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3E2AB88-F6B7-4164-8F0F-A284D0C4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FABEBD5-F5AD-4684-80D0-BCB2F7C5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13EDEE7-8137-43E0-8B67-CE9FC074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总结与交付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34E21F7-771B-4181-989E-E82C7960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技术证据已基本齐套，最终提交仍由 G5 四件套决定</a:t>
            </a:r>
          </a:p>
        </p:txBody>
      </p:sp>
      <p:sp>
        <p:nvSpPr>
          <p:cNvPr id="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B6DB98A5-9087-4D41-A3DF-AF064735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15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E5ECAE9-131E-4C57-A0FC-67EF9906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table-cell">
            <a:extLst xmlns:a="http://schemas.openxmlformats.org/drawingml/2006/main">
              <a:ext uri="{FF2B5EF4-FFF2-40B4-BE49-F238E27FC236}">
                <a16:creationId xmlns:a16="http://schemas.microsoft.com/office/drawing/2014/main" id="{ECE6EC55-1DB9-42B4-A1A7-3A1C6026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table-text">
            <a:extLst xmlns:a="http://schemas.openxmlformats.org/drawingml/2006/main">
              <a:ext uri="{FF2B5EF4-FFF2-40B4-BE49-F238E27FC236}">
                <a16:creationId xmlns:a16="http://schemas.microsoft.com/office/drawing/2014/main" id="{F61B74D5-AC54-4931-931E-F1FE07D5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10" name="table-cell">
            <a:extLst xmlns:a="http://schemas.openxmlformats.org/drawingml/2006/main">
              <a:ext uri="{FF2B5EF4-FFF2-40B4-BE49-F238E27FC236}">
                <a16:creationId xmlns:a16="http://schemas.microsoft.com/office/drawing/2014/main" id="{2088E4BB-38B1-4610-A19B-14D0D7B2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002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table-text">
            <a:extLst xmlns:a="http://schemas.openxmlformats.org/drawingml/2006/main">
              <a:ext uri="{FF2B5EF4-FFF2-40B4-BE49-F238E27FC236}">
                <a16:creationId xmlns:a16="http://schemas.microsoft.com/office/drawing/2014/main" id="{EA0DBA83-5EF5-483D-95A3-D47A53AB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764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2" name="table-cell">
            <a:extLst xmlns:a="http://schemas.openxmlformats.org/drawingml/2006/main">
              <a:ext uri="{FF2B5EF4-FFF2-40B4-BE49-F238E27FC236}">
                <a16:creationId xmlns:a16="http://schemas.microsoft.com/office/drawing/2014/main" id="{DD05490F-3809-4754-B900-3B558711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002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table-text">
            <a:extLst xmlns:a="http://schemas.openxmlformats.org/drawingml/2006/main">
              <a:ext uri="{FF2B5EF4-FFF2-40B4-BE49-F238E27FC236}">
                <a16:creationId xmlns:a16="http://schemas.microsoft.com/office/drawing/2014/main" id="{F003CFAF-84A9-4562-9AA3-85E85526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764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关闭证据</a:t>
            </a:r>
          </a:p>
        </p:txBody>
      </p:sp>
      <p:sp>
        <p:nvSpPr>
          <p:cNvPr id="14" name="table-cell">
            <a:extLst xmlns:a="http://schemas.openxmlformats.org/drawingml/2006/main">
              <a:ext uri="{FF2B5EF4-FFF2-40B4-BE49-F238E27FC236}">
                <a16:creationId xmlns:a16="http://schemas.microsoft.com/office/drawing/2014/main" id="{46680E82-7C8F-4ADD-9A99-7B23825A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table-text">
            <a:extLst xmlns:a="http://schemas.openxmlformats.org/drawingml/2006/main">
              <a:ext uri="{FF2B5EF4-FFF2-40B4-BE49-F238E27FC236}">
                <a16:creationId xmlns:a16="http://schemas.microsoft.com/office/drawing/2014/main" id="{4B60C0AE-D5C6-4229-B544-C0B81091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方案报告 DOCX/PDF</a:t>
            </a:r>
          </a:p>
        </p:txBody>
      </p:sp>
      <p:sp>
        <p:nvSpPr>
          <p:cNvPr id="16" name="table-cell">
            <a:extLst xmlns:a="http://schemas.openxmlformats.org/drawingml/2006/main">
              <a:ext uri="{FF2B5EF4-FFF2-40B4-BE49-F238E27FC236}">
                <a16:creationId xmlns:a16="http://schemas.microsoft.com/office/drawing/2014/main" id="{563E34D7-6ACB-436F-B74F-AB25095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669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table-text">
            <a:extLst xmlns:a="http://schemas.openxmlformats.org/drawingml/2006/main">
              <a:ext uri="{FF2B5EF4-FFF2-40B4-BE49-F238E27FC236}">
                <a16:creationId xmlns:a16="http://schemas.microsoft.com/office/drawing/2014/main" id="{215F5097-4CF4-435C-8009-7BE53350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4315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已生成</a:t>
            </a:r>
          </a:p>
        </p:txBody>
      </p:sp>
      <p:sp>
        <p:nvSpPr>
          <p:cNvPr id="18" name="table-cell">
            <a:extLst xmlns:a="http://schemas.openxmlformats.org/drawingml/2006/main">
              <a:ext uri="{FF2B5EF4-FFF2-40B4-BE49-F238E27FC236}">
                <a16:creationId xmlns:a16="http://schemas.microsoft.com/office/drawing/2014/main" id="{EE42AD04-1BEA-40B5-814B-F899CB8F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6695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table-text">
            <a:extLst xmlns:a="http://schemas.openxmlformats.org/drawingml/2006/main">
              <a:ext uri="{FF2B5EF4-FFF2-40B4-BE49-F238E27FC236}">
                <a16:creationId xmlns:a16="http://schemas.microsoft.com/office/drawing/2014/main" id="{67CF0E90-D866-4424-8C10-071EA345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4315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submission/01_report</a:t>
            </a:r>
          </a:p>
        </p:txBody>
      </p:sp>
      <p:sp>
        <p:nvSpPr>
          <p:cNvPr id="20" name="table-cell">
            <a:extLst xmlns:a="http://schemas.openxmlformats.org/drawingml/2006/main">
              <a:ext uri="{FF2B5EF4-FFF2-40B4-BE49-F238E27FC236}">
                <a16:creationId xmlns:a16="http://schemas.microsoft.com/office/drawing/2014/main" id="{00C61126-1725-4022-BAD8-883CAE98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table-text">
            <a:extLst xmlns:a="http://schemas.openxmlformats.org/drawingml/2006/main">
              <a:ext uri="{FF2B5EF4-FFF2-40B4-BE49-F238E27FC236}">
                <a16:creationId xmlns:a16="http://schemas.microsoft.com/office/drawing/2014/main" id="{70B2971F-29B7-4E2D-AB20-A8677B16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答辩 PPTX/PDF</a:t>
            </a:r>
          </a:p>
        </p:txBody>
      </p:sp>
      <p:sp>
        <p:nvSpPr>
          <p:cNvPr id="22" name="table-cell">
            <a:extLst xmlns:a="http://schemas.openxmlformats.org/drawingml/2006/main">
              <a:ext uri="{FF2B5EF4-FFF2-40B4-BE49-F238E27FC236}">
                <a16:creationId xmlns:a16="http://schemas.microsoft.com/office/drawing/2014/main" id="{C49E1E50-66E0-4B74-8981-7010E5A5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337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table-text">
            <a:extLst xmlns:a="http://schemas.openxmlformats.org/drawingml/2006/main">
              <a:ext uri="{FF2B5EF4-FFF2-40B4-BE49-F238E27FC236}">
                <a16:creationId xmlns:a16="http://schemas.microsoft.com/office/drawing/2014/main" id="{87456CFF-933D-4996-816C-69584F42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99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本轮生成 PPTX</a:t>
            </a:r>
          </a:p>
        </p:txBody>
      </p:sp>
      <p:sp>
        <p:nvSpPr>
          <p:cNvPr id="24" name="table-cell">
            <a:extLst xmlns:a="http://schemas.openxmlformats.org/drawingml/2006/main">
              <a:ext uri="{FF2B5EF4-FFF2-40B4-BE49-F238E27FC236}">
                <a16:creationId xmlns:a16="http://schemas.microsoft.com/office/drawing/2014/main" id="{6C78C1EF-CA28-4A8E-AB37-A53F1FDE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337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table-text">
            <a:extLst xmlns:a="http://schemas.openxmlformats.org/drawingml/2006/main">
              <a:ext uri="{FF2B5EF4-FFF2-40B4-BE49-F238E27FC236}">
                <a16:creationId xmlns:a16="http://schemas.microsoft.com/office/drawing/2014/main" id="{9739CA03-FE45-4039-818E-03D0DDB4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099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submission/02_presentation</a:t>
            </a:r>
          </a:p>
        </p:txBody>
      </p:sp>
      <p:sp>
        <p:nvSpPr>
          <p:cNvPr id="26" name="table-cell">
            <a:extLst xmlns:a="http://schemas.openxmlformats.org/drawingml/2006/main">
              <a:ext uri="{FF2B5EF4-FFF2-40B4-BE49-F238E27FC236}">
                <a16:creationId xmlns:a16="http://schemas.microsoft.com/office/drawing/2014/main" id="{334CD702-BB13-4C90-A64A-B96E3384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table-text">
            <a:extLst xmlns:a="http://schemas.openxmlformats.org/drawingml/2006/main">
              <a:ext uri="{FF2B5EF4-FFF2-40B4-BE49-F238E27FC236}">
                <a16:creationId xmlns:a16="http://schemas.microsoft.com/office/drawing/2014/main" id="{E8F602D4-D8C1-4CC5-9C62-96ABFADE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演示视频 MP4</a:t>
            </a:r>
          </a:p>
        </p:txBody>
      </p:sp>
      <p:sp>
        <p:nvSpPr>
          <p:cNvPr id="28" name="table-cell">
            <a:extLst xmlns:a="http://schemas.openxmlformats.org/drawingml/2006/main">
              <a:ext uri="{FF2B5EF4-FFF2-40B4-BE49-F238E27FC236}">
                <a16:creationId xmlns:a16="http://schemas.microsoft.com/office/drawing/2014/main" id="{D8492BD2-1D35-4AB8-96B7-327333FF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004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table-text">
            <a:extLst xmlns:a="http://schemas.openxmlformats.org/drawingml/2006/main">
              <a:ext uri="{FF2B5EF4-FFF2-40B4-BE49-F238E27FC236}">
                <a16:creationId xmlns:a16="http://schemas.microsoft.com/office/drawing/2014/main" id="{73F4C21E-CD6B-4546-A8CF-A3EBF03E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7665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待录制/生成</a:t>
            </a:r>
          </a:p>
        </p:txBody>
      </p:sp>
      <p:sp>
        <p:nvSpPr>
          <p:cNvPr id="30" name="table-cell">
            <a:extLst xmlns:a="http://schemas.openxmlformats.org/drawingml/2006/main">
              <a:ext uri="{FF2B5EF4-FFF2-40B4-BE49-F238E27FC236}">
                <a16:creationId xmlns:a16="http://schemas.microsoft.com/office/drawing/2014/main" id="{367ADDF0-E013-4288-9851-980908EB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0045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table-text">
            <a:extLst xmlns:a="http://schemas.openxmlformats.org/drawingml/2006/main">
              <a:ext uri="{FF2B5EF4-FFF2-40B4-BE49-F238E27FC236}">
                <a16:creationId xmlns:a16="http://schemas.microsoft.com/office/drawing/2014/main" id="{87C4D297-E95E-452D-80E9-0AA59B50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7665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submission/03_video/demo_video.mp4</a:t>
            </a:r>
          </a:p>
        </p:txBody>
      </p:sp>
      <p:sp>
        <p:nvSpPr>
          <p:cNvPr id="32" name="table-cell">
            <a:extLst xmlns:a="http://schemas.openxmlformats.org/drawingml/2006/main">
              <a:ext uri="{FF2B5EF4-FFF2-40B4-BE49-F238E27FC236}">
                <a16:creationId xmlns:a16="http://schemas.microsoft.com/office/drawing/2014/main" id="{6A4A3A55-3C37-4B7B-8A31-F0386555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table-text">
            <a:extLst xmlns:a="http://schemas.openxmlformats.org/drawingml/2006/main">
              <a:ext uri="{FF2B5EF4-FFF2-40B4-BE49-F238E27FC236}">
                <a16:creationId xmlns:a16="http://schemas.microsoft.com/office/drawing/2014/main" id="{E8412B4B-7140-4DF8-A7D6-6CB550D4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代码/CST/data/附录</a:t>
            </a:r>
          </a:p>
        </p:txBody>
      </p:sp>
      <p:sp>
        <p:nvSpPr>
          <p:cNvPr id="34" name="table-cell">
            <a:extLst xmlns:a="http://schemas.openxmlformats.org/drawingml/2006/main">
              <a:ext uri="{FF2B5EF4-FFF2-40B4-BE49-F238E27FC236}">
                <a16:creationId xmlns:a16="http://schemas.microsoft.com/office/drawing/2014/main" id="{3287E7D4-D7DA-4C81-AC17-4F4C4FAB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672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table-text">
            <a:extLst xmlns:a="http://schemas.openxmlformats.org/drawingml/2006/main">
              <a:ext uri="{FF2B5EF4-FFF2-40B4-BE49-F238E27FC236}">
                <a16:creationId xmlns:a16="http://schemas.microsoft.com/office/drawing/2014/main" id="{B0BBA534-BF43-4560-8BDF-6388CB62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434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草稿包齐套</a:t>
            </a:r>
          </a:p>
        </p:txBody>
      </p:sp>
      <p:sp>
        <p:nvSpPr>
          <p:cNvPr id="36" name="table-cell">
            <a:extLst xmlns:a="http://schemas.openxmlformats.org/drawingml/2006/main">
              <a:ext uri="{FF2B5EF4-FFF2-40B4-BE49-F238E27FC236}">
                <a16:creationId xmlns:a16="http://schemas.microsoft.com/office/drawing/2014/main" id="{BA862D50-C574-4E0E-97F9-20AF3364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672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table-text">
            <a:extLst xmlns:a="http://schemas.openxmlformats.org/drawingml/2006/main">
              <a:ext uri="{FF2B5EF4-FFF2-40B4-BE49-F238E27FC236}">
                <a16:creationId xmlns:a16="http://schemas.microsoft.com/office/drawing/2014/main" id="{3F57B8C1-3336-4B82-A0C0-318A98FF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434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submission index blocked=0</a:t>
            </a:r>
          </a:p>
        </p:txBody>
      </p:sp>
      <p:sp>
        <p:nvSpPr>
          <p:cNvPr id="38" name="metric-box">
            <a:extLst xmlns:a="http://schemas.openxmlformats.org/drawingml/2006/main">
              <a:ext uri="{FF2B5EF4-FFF2-40B4-BE49-F238E27FC236}">
                <a16:creationId xmlns:a16="http://schemas.microsoft.com/office/drawing/2014/main" id="{ED9ABA41-7832-4404-8AF4-A8065295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EF608DD3-C7FA-42E4-A952-1ADCD7E3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28A99535-67E0-44D1-AAAE-E0953768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578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7C / 1P</a:t>
            </a:r>
          </a:p>
        </p:txBody>
      </p:sp>
      <p:sp>
        <p:nvSpPr>
          <p:cNvPr id="4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3562F5F4-281E-4614-982D-7BA3850A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578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completion audit</a:t>
            </a:r>
          </a:p>
        </p:txBody>
      </p:sp>
      <p:sp>
        <p:nvSpPr>
          <p:cNvPr id="42" name="metric-box">
            <a:extLst xmlns:a="http://schemas.openxmlformats.org/drawingml/2006/main">
              <a:ext uri="{FF2B5EF4-FFF2-40B4-BE49-F238E27FC236}">
                <a16:creationId xmlns:a16="http://schemas.microsoft.com/office/drawing/2014/main" id="{4E22CB55-E6D2-472E-8D8C-A231299D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5985DF21-6B12-4D70-9433-E19248E4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C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8AE0760-FA1D-44AF-B3BD-6C79379C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578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5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FC97D38-B4B1-4309-84B4-4E58FCE2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578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submission blocked</a:t>
            </a:r>
          </a:p>
        </p:txBody>
      </p:sp>
      <p:sp>
        <p:nvSpPr>
          <p:cNvPr id="46" name="metric-box">
            <a:extLst xmlns:a="http://schemas.openxmlformats.org/drawingml/2006/main">
              <a:ext uri="{FF2B5EF4-FFF2-40B4-BE49-F238E27FC236}">
                <a16:creationId xmlns:a16="http://schemas.microsoft.com/office/drawing/2014/main" id="{78BF14B2-D6C7-4BA4-A649-BAF3CA2B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DE45A845-ACD0-4CB7-A5BB-E7301705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28DCD1F7-BE09-4731-8721-B4E01677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578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G5</a:t>
            </a:r>
          </a:p>
        </p:txBody>
      </p:sp>
      <p:sp>
        <p:nvSpPr>
          <p:cNvPr id="4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0411306-DADF-46FD-8CF5-3DDB6501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6578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next gate</a:t>
            </a:r>
          </a:p>
        </p:txBody>
      </p:sp>
    </p:spTree>
    <p:extLst>
      <p:ext uri="{BB962C8B-B14F-4D97-AF65-F5344CB8AC3E}">
        <p14:creationId xmlns:p14="http://schemas.microsoft.com/office/powerpoint/2010/main" val="2068681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2026-05-29T03:37:18.0230000Z</dcterms:created>
  <dcterms:modified xsi:type="dcterms:W3CDTF">2026-05-29T03:37:18.0230000Z</dcterms:modified>
</coreProperties>
</file>