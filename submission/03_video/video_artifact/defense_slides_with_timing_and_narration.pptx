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-bg">
            <a:extLst>
              <a:ext uri="{FF2B5EF4-FFF2-40B4-BE49-F238E27FC236}">
                <a16:creationId xmlns:a16="http://schemas.microsoft.com/office/drawing/2014/main" id="{C6668CEF-F3F8-4214-B594-EEA1C715A4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7D2500FD-1B2E-43D5-86CB-2685D23F5F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E7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FD9A7145-7B51-4F78-BD74-41D4E4B82EF8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76200" cy="76200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91F23BED-79FE-4033-B21C-08CD884FAA67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方案总览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AC247981-9A87-4AF0-869B-D23F8B46BA48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7810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半球面 2π 测量 + CST-Python 闭环，支撑重建与识别两条主线</a:t>
            </a:r>
          </a:p>
        </p:txBody>
      </p:sp>
      <p:sp>
        <p:nvSpPr>
          <p:cNvPr id="6" name="page-marker">
            <a:extLst>
              <a:ext uri="{FF2B5EF4-FFF2-40B4-BE49-F238E27FC236}">
                <a16:creationId xmlns:a16="http://schemas.microsoft.com/office/drawing/2014/main" id="{2A274207-3BFF-4322-AB8F-FEE21F80F7F2}"/>
              </a:ext>
            </a:extLst>
          </p:cNvPr>
          <p:cNvSpPr>
            <a:spLocks noGrp="1"/>
          </p:cNvSpPr>
          <p:nvPr/>
        </p:nvSpPr>
        <p:spPr>
          <a:xfrm>
            <a:off x="11239500" y="61150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32A6807E-2736-4C75-808C-0EE10CFFD517}"/>
              </a:ext>
            </a:extLst>
          </p:cNvPr>
          <p:cNvSpPr>
            <a:spLocks noGrp="1"/>
          </p:cNvSpPr>
          <p:nvPr/>
        </p:nvSpPr>
        <p:spPr>
          <a:xfrm>
            <a:off x="552450" y="613410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B717C7-EEC3-4BE0-A7BD-530C2D6B747B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复杂航空载体电磁辐射空域特性测量技术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56333E-2618-4B24-A368-F36B73083EF8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857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物理约束的空-频-极化联合等效源重构与受限域压缩测量方法</a:t>
            </a:r>
          </a:p>
        </p:txBody>
      </p:sp>
      <p:sp>
        <p:nvSpPr>
          <p:cNvPr id="10" name="metric-box">
            <a:extLst>
              <a:ext uri="{FF2B5EF4-FFF2-40B4-BE49-F238E27FC236}">
                <a16:creationId xmlns:a16="http://schemas.microsoft.com/office/drawing/2014/main" id="{0528D7CD-ACAF-47F5-AD11-402733DABEB1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2190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1" name="metric-accent">
            <a:extLst>
              <a:ext uri="{FF2B5EF4-FFF2-40B4-BE49-F238E27FC236}">
                <a16:creationId xmlns:a16="http://schemas.microsoft.com/office/drawing/2014/main" id="{A20D028E-0AAE-4C86-B806-3E9C0956F09A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57150" cy="914400"/>
          </a:xfrm>
          <a:prstGeom prst="rect">
            <a:avLst/>
          </a:prstGeom>
          <a:solidFill>
            <a:srgbClr val="2E7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etric-value">
            <a:extLst>
              <a:ext uri="{FF2B5EF4-FFF2-40B4-BE49-F238E27FC236}">
                <a16:creationId xmlns:a16="http://schemas.microsoft.com/office/drawing/2014/main" id="{60EB6B43-950E-41F8-93D8-D5B0DBE22DF3}"/>
              </a:ext>
            </a:extLst>
          </p:cNvPr>
          <p:cNvSpPr>
            <a:spLocks noGrp="1"/>
          </p:cNvSpPr>
          <p:nvPr/>
        </p:nvSpPr>
        <p:spPr>
          <a:xfrm>
            <a:off x="971550" y="325755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162</a:t>
            </a:r>
          </a:p>
        </p:txBody>
      </p:sp>
      <p:sp>
        <p:nvSpPr>
          <p:cNvPr id="13" name="metric-label">
            <a:extLst>
              <a:ext uri="{FF2B5EF4-FFF2-40B4-BE49-F238E27FC236}">
                <a16:creationId xmlns:a16="http://schemas.microsoft.com/office/drawing/2014/main" id="{2A8BA8CF-B3FC-4F87-BF45-82BADEF4FE73}"/>
              </a:ext>
            </a:extLst>
          </p:cNvPr>
          <p:cNvSpPr>
            <a:spLocks noGrp="1"/>
          </p:cNvSpPr>
          <p:nvPr/>
        </p:nvSpPr>
        <p:spPr>
          <a:xfrm>
            <a:off x="971550" y="36576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半球面测点</a:t>
            </a:r>
          </a:p>
        </p:txBody>
      </p:sp>
      <p:sp>
        <p:nvSpPr>
          <p:cNvPr id="14" name="metric-box">
            <a:extLst>
              <a:ext uri="{FF2B5EF4-FFF2-40B4-BE49-F238E27FC236}">
                <a16:creationId xmlns:a16="http://schemas.microsoft.com/office/drawing/2014/main" id="{77F7B28F-E215-4A03-9BCA-D19BE73B0626}"/>
              </a:ext>
            </a:extLst>
          </p:cNvPr>
          <p:cNvSpPr>
            <a:spLocks noGrp="1"/>
          </p:cNvSpPr>
          <p:nvPr/>
        </p:nvSpPr>
        <p:spPr>
          <a:xfrm>
            <a:off x="3190875" y="3143250"/>
            <a:ext cx="2190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5" name="metric-accent">
            <a:extLst>
              <a:ext uri="{FF2B5EF4-FFF2-40B4-BE49-F238E27FC236}">
                <a16:creationId xmlns:a16="http://schemas.microsoft.com/office/drawing/2014/main" id="{4F63E67F-ED09-4CA0-84AB-BC89550508C7}"/>
              </a:ext>
            </a:extLst>
          </p:cNvPr>
          <p:cNvSpPr>
            <a:spLocks noGrp="1"/>
          </p:cNvSpPr>
          <p:nvPr/>
        </p:nvSpPr>
        <p:spPr>
          <a:xfrm>
            <a:off x="3190875" y="3143250"/>
            <a:ext cx="57150" cy="914400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metric-value">
            <a:extLst>
              <a:ext uri="{FF2B5EF4-FFF2-40B4-BE49-F238E27FC236}">
                <a16:creationId xmlns:a16="http://schemas.microsoft.com/office/drawing/2014/main" id="{4855141B-1FE6-45A4-91A2-FAB1F393DCB2}"/>
              </a:ext>
            </a:extLst>
          </p:cNvPr>
          <p:cNvSpPr>
            <a:spLocks noGrp="1"/>
          </p:cNvSpPr>
          <p:nvPr/>
        </p:nvSpPr>
        <p:spPr>
          <a:xfrm>
            <a:off x="3400425" y="325755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48/48</a:t>
            </a:r>
          </a:p>
        </p:txBody>
      </p:sp>
      <p:sp>
        <p:nvSpPr>
          <p:cNvPr id="17" name="metric-label">
            <a:extLst>
              <a:ext uri="{FF2B5EF4-FFF2-40B4-BE49-F238E27FC236}">
                <a16:creationId xmlns:a16="http://schemas.microsoft.com/office/drawing/2014/main" id="{2C460C05-7B92-4F1B-93FB-318FCA4093B8}"/>
              </a:ext>
            </a:extLst>
          </p:cNvPr>
          <p:cNvSpPr>
            <a:spLocks noGrp="1"/>
          </p:cNvSpPr>
          <p:nvPr/>
        </p:nvSpPr>
        <p:spPr>
          <a:xfrm>
            <a:off x="3400425" y="36576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Level 2 样本</a:t>
            </a:r>
          </a:p>
        </p:txBody>
      </p:sp>
      <p:sp>
        <p:nvSpPr>
          <p:cNvPr id="18" name="metric-box">
            <a:extLst>
              <a:ext uri="{FF2B5EF4-FFF2-40B4-BE49-F238E27FC236}">
                <a16:creationId xmlns:a16="http://schemas.microsoft.com/office/drawing/2014/main" id="{B2AA1628-FFE0-40A6-A057-5D33327FE084}"/>
              </a:ext>
            </a:extLst>
          </p:cNvPr>
          <p:cNvSpPr>
            <a:spLocks noGrp="1"/>
          </p:cNvSpPr>
          <p:nvPr/>
        </p:nvSpPr>
        <p:spPr>
          <a:xfrm>
            <a:off x="5619750" y="3143250"/>
            <a:ext cx="2190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9" name="metric-accent">
            <a:extLst>
              <a:ext uri="{FF2B5EF4-FFF2-40B4-BE49-F238E27FC236}">
                <a16:creationId xmlns:a16="http://schemas.microsoft.com/office/drawing/2014/main" id="{98A219BB-B931-4883-9444-742B8E4B5FBB}"/>
              </a:ext>
            </a:extLst>
          </p:cNvPr>
          <p:cNvSpPr>
            <a:spLocks noGrp="1"/>
          </p:cNvSpPr>
          <p:nvPr/>
        </p:nvSpPr>
        <p:spPr>
          <a:xfrm>
            <a:off x="5619750" y="3143250"/>
            <a:ext cx="57150" cy="914400"/>
          </a:xfrm>
          <a:prstGeom prst="rect">
            <a:avLst/>
          </a:prstGeom>
          <a:solidFill>
            <a:srgbClr val="B879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metric-value">
            <a:extLst>
              <a:ext uri="{FF2B5EF4-FFF2-40B4-BE49-F238E27FC236}">
                <a16:creationId xmlns:a16="http://schemas.microsoft.com/office/drawing/2014/main" id="{43F254EB-E1D0-4FCF-8207-2CC6C77E9364}"/>
              </a:ext>
            </a:extLst>
          </p:cNvPr>
          <p:cNvSpPr>
            <a:spLocks noGrp="1"/>
          </p:cNvSpPr>
          <p:nvPr/>
        </p:nvSpPr>
        <p:spPr>
          <a:xfrm>
            <a:off x="5829300" y="325755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1.000</a:t>
            </a:r>
          </a:p>
        </p:txBody>
      </p:sp>
      <p:sp>
        <p:nvSpPr>
          <p:cNvPr id="21" name="metric-label">
            <a:extLst>
              <a:ext uri="{FF2B5EF4-FFF2-40B4-BE49-F238E27FC236}">
                <a16:creationId xmlns:a16="http://schemas.microsoft.com/office/drawing/2014/main" id="{EDED58F4-929E-47C0-BACA-465692F74296}"/>
              </a:ext>
            </a:extLst>
          </p:cNvPr>
          <p:cNvSpPr>
            <a:spLocks noGrp="1"/>
          </p:cNvSpPr>
          <p:nvPr/>
        </p:nvSpPr>
        <p:spPr>
          <a:xfrm>
            <a:off x="5829300" y="36576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识别准确率</a:t>
            </a:r>
          </a:p>
        </p:txBody>
      </p:sp>
      <p:sp>
        <p:nvSpPr>
          <p:cNvPr id="22" name="metric-box">
            <a:extLst>
              <a:ext uri="{FF2B5EF4-FFF2-40B4-BE49-F238E27FC236}">
                <a16:creationId xmlns:a16="http://schemas.microsoft.com/office/drawing/2014/main" id="{E5763BC9-3F71-4421-8BC7-4B94D7D0CCBC}"/>
              </a:ext>
            </a:extLst>
          </p:cNvPr>
          <p:cNvSpPr>
            <a:spLocks noGrp="1"/>
          </p:cNvSpPr>
          <p:nvPr/>
        </p:nvSpPr>
        <p:spPr>
          <a:xfrm>
            <a:off x="8048625" y="3143250"/>
            <a:ext cx="2190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3" name="metric-accent">
            <a:extLst>
              <a:ext uri="{FF2B5EF4-FFF2-40B4-BE49-F238E27FC236}">
                <a16:creationId xmlns:a16="http://schemas.microsoft.com/office/drawing/2014/main" id="{9F65B751-5A33-469A-92D6-6A6A83BB7D0C}"/>
              </a:ext>
            </a:extLst>
          </p:cNvPr>
          <p:cNvSpPr>
            <a:spLocks noGrp="1"/>
          </p:cNvSpPr>
          <p:nvPr/>
        </p:nvSpPr>
        <p:spPr>
          <a:xfrm>
            <a:off x="8048625" y="3143250"/>
            <a:ext cx="57150" cy="914400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metric-value">
            <a:extLst>
              <a:ext uri="{FF2B5EF4-FFF2-40B4-BE49-F238E27FC236}">
                <a16:creationId xmlns:a16="http://schemas.microsoft.com/office/drawing/2014/main" id="{B59EEE18-3FFC-4329-9B58-822FA8AB68D9}"/>
              </a:ext>
            </a:extLst>
          </p:cNvPr>
          <p:cNvSpPr>
            <a:spLocks noGrp="1"/>
          </p:cNvSpPr>
          <p:nvPr/>
        </p:nvSpPr>
        <p:spPr>
          <a:xfrm>
            <a:off x="8258175" y="325755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1.000</a:t>
            </a:r>
          </a:p>
        </p:txBody>
      </p:sp>
      <p:sp>
        <p:nvSpPr>
          <p:cNvPr id="25" name="metric-label">
            <a:extLst>
              <a:ext uri="{FF2B5EF4-FFF2-40B4-BE49-F238E27FC236}">
                <a16:creationId xmlns:a16="http://schemas.microsoft.com/office/drawing/2014/main" id="{C5FE5CEB-3D64-4D40-848B-0EC39C4DD850}"/>
              </a:ext>
            </a:extLst>
          </p:cNvPr>
          <p:cNvSpPr>
            <a:spLocks noGrp="1"/>
          </p:cNvSpPr>
          <p:nvPr/>
        </p:nvSpPr>
        <p:spPr>
          <a:xfrm>
            <a:off x="8258175" y="365760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结构跨域</a:t>
            </a:r>
          </a:p>
        </p:txBody>
      </p:sp>
      <p:sp>
        <p:nvSpPr>
          <p:cNvPr id="26" name="note-box">
            <a:extLst>
              <a:ext uri="{FF2B5EF4-FFF2-40B4-BE49-F238E27FC236}">
                <a16:creationId xmlns:a16="http://schemas.microsoft.com/office/drawing/2014/main" id="{ACB8FEA7-7800-48AC-B9D8-A9A119371B15}"/>
              </a:ext>
            </a:extLst>
          </p:cNvPr>
          <p:cNvSpPr>
            <a:spLocks noGrp="1"/>
          </p:cNvSpPr>
          <p:nvPr/>
        </p:nvSpPr>
        <p:spPr>
          <a:xfrm>
            <a:off x="762000" y="4762500"/>
            <a:ext cx="9334500" cy="704850"/>
          </a:xfrm>
          <a:prstGeom prst="rect">
            <a:avLst/>
          </a:prstGeom>
          <a:solidFill>
            <a:srgbClr val="E7EEF6"/>
          </a:solidFill>
          <a:ln w="9525">
            <a:solidFill>
              <a:srgbClr val="E2D2B8"/>
            </a:solidFill>
            <a:prstDash val="solid"/>
          </a:ln>
        </p:spPr>
      </p:sp>
      <p:sp>
        <p:nvSpPr>
          <p:cNvPr id="27" name="note-text">
            <a:extLst>
              <a:ext uri="{FF2B5EF4-FFF2-40B4-BE49-F238E27FC236}">
                <a16:creationId xmlns:a16="http://schemas.microsoft.com/office/drawing/2014/main" id="{5E501CE3-1EE7-4120-AE6A-A5277FD59A40}"/>
              </a:ext>
            </a:extLst>
          </p:cNvPr>
          <p:cNvSpPr>
            <a:spLocks noGrp="1"/>
          </p:cNvSpPr>
          <p:nvPr/>
        </p:nvSpPr>
        <p:spPr>
          <a:xfrm>
            <a:off x="933450" y="4857750"/>
            <a:ext cx="8991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当前生成正式报告 DOCX/PDF；PPTX 由本 deck 导出；MP4 仍需录制或自动生成。</a:t>
            </a:r>
          </a:p>
        </p:txBody>
      </p:sp>
    </p:spTree>
    <p:extLst>
      <p:ext uri="{BB962C8B-B14F-4D97-AF65-F5344CB8AC3E}">
        <p14:creationId xmlns:p14="http://schemas.microsoft.com/office/powerpoint/2010/main" val="1453722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4000"/>
    </mc:Choice>
    <mc:Fallback>
      <p:transition spd="slow" advClick="0" advTm="14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-bg">
            <a:extLst>
              <a:ext uri="{FF2B5EF4-FFF2-40B4-BE49-F238E27FC236}">
                <a16:creationId xmlns:a16="http://schemas.microsoft.com/office/drawing/2014/main" id="{0E8FDB22-BC2E-4CDD-80FE-1FCEB29FA5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F59FAE77-AA55-4892-91BF-5E177F68D4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E7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E3B1FCE6-0A02-46B6-B26A-5F2F726CC497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76200" cy="76200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15F7F131-499C-441C-8B04-296AAE409714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指标拆解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31B835CA-19A7-4444-A3C9-11A04AB4CCAD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7810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100 分评分项已映射到可审计文件和可复现实验输出</a:t>
            </a:r>
          </a:p>
        </p:txBody>
      </p:sp>
      <p:sp>
        <p:nvSpPr>
          <p:cNvPr id="6" name="page-marker">
            <a:extLst>
              <a:ext uri="{FF2B5EF4-FFF2-40B4-BE49-F238E27FC236}">
                <a16:creationId xmlns:a16="http://schemas.microsoft.com/office/drawing/2014/main" id="{62780A94-D949-42DE-A15A-C0A92B33B100}"/>
              </a:ext>
            </a:extLst>
          </p:cNvPr>
          <p:cNvSpPr>
            <a:spLocks noGrp="1"/>
          </p:cNvSpPr>
          <p:nvPr/>
        </p:nvSpPr>
        <p:spPr>
          <a:xfrm>
            <a:off x="11239500" y="61150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06BFA63F-87AA-42E1-8E22-11448FC684F8}"/>
              </a:ext>
            </a:extLst>
          </p:cNvPr>
          <p:cNvSpPr>
            <a:spLocks noGrp="1"/>
          </p:cNvSpPr>
          <p:nvPr/>
        </p:nvSpPr>
        <p:spPr>
          <a:xfrm>
            <a:off x="552450" y="613410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table-cell">
            <a:extLst>
              <a:ext uri="{FF2B5EF4-FFF2-40B4-BE49-F238E27FC236}">
                <a16:creationId xmlns:a16="http://schemas.microsoft.com/office/drawing/2014/main" id="{8B75AE56-4474-41AA-8D1A-49AD8B599CC5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3143250" cy="647700"/>
          </a:xfrm>
          <a:prstGeom prst="rect">
            <a:avLst/>
          </a:prstGeom>
          <a:solidFill>
            <a:srgbClr val="E7EEF6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9" name="table-text">
            <a:extLst>
              <a:ext uri="{FF2B5EF4-FFF2-40B4-BE49-F238E27FC236}">
                <a16:creationId xmlns:a16="http://schemas.microsoft.com/office/drawing/2014/main" id="{B1A61B9B-77E1-4675-B9B8-44F643EDAD0D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2990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赛题要求</a:t>
            </a:r>
          </a:p>
        </p:txBody>
      </p:sp>
      <p:sp>
        <p:nvSpPr>
          <p:cNvPr id="10" name="table-cell">
            <a:extLst>
              <a:ext uri="{FF2B5EF4-FFF2-40B4-BE49-F238E27FC236}">
                <a16:creationId xmlns:a16="http://schemas.microsoft.com/office/drawing/2014/main" id="{9FA1F3A7-3DC3-48C8-8A9F-CCC8156D339E}"/>
              </a:ext>
            </a:extLst>
          </p:cNvPr>
          <p:cNvSpPr>
            <a:spLocks noGrp="1"/>
          </p:cNvSpPr>
          <p:nvPr/>
        </p:nvSpPr>
        <p:spPr>
          <a:xfrm>
            <a:off x="3829050" y="1638300"/>
            <a:ext cx="4476750" cy="647700"/>
          </a:xfrm>
          <a:prstGeom prst="rect">
            <a:avLst/>
          </a:prstGeom>
          <a:solidFill>
            <a:srgbClr val="E7EEF6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1" name="table-text">
            <a:extLst>
              <a:ext uri="{FF2B5EF4-FFF2-40B4-BE49-F238E27FC236}">
                <a16:creationId xmlns:a16="http://schemas.microsoft.com/office/drawing/2014/main" id="{E5BF287D-D743-4729-BD56-A716DBFDCEED}"/>
              </a:ext>
            </a:extLst>
          </p:cNvPr>
          <p:cNvSpPr>
            <a:spLocks noGrp="1"/>
          </p:cNvSpPr>
          <p:nvPr/>
        </p:nvSpPr>
        <p:spPr>
          <a:xfrm>
            <a:off x="3905250" y="1714500"/>
            <a:ext cx="4324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" name="table-cell">
            <a:extLst>
              <a:ext uri="{FF2B5EF4-FFF2-40B4-BE49-F238E27FC236}">
                <a16:creationId xmlns:a16="http://schemas.microsoft.com/office/drawing/2014/main" id="{C607ADDF-F60A-460B-852C-169BD743DFC1}"/>
              </a:ext>
            </a:extLst>
          </p:cNvPr>
          <p:cNvSpPr>
            <a:spLocks noGrp="1"/>
          </p:cNvSpPr>
          <p:nvPr/>
        </p:nvSpPr>
        <p:spPr>
          <a:xfrm>
            <a:off x="8305800" y="1638300"/>
            <a:ext cx="2190750" cy="647700"/>
          </a:xfrm>
          <a:prstGeom prst="rect">
            <a:avLst/>
          </a:prstGeom>
          <a:solidFill>
            <a:srgbClr val="E7EEF6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3" name="table-text">
            <a:extLst>
              <a:ext uri="{FF2B5EF4-FFF2-40B4-BE49-F238E27FC236}">
                <a16:creationId xmlns:a16="http://schemas.microsoft.com/office/drawing/2014/main" id="{0A63FF22-E195-4342-AC9D-B324268363EA}"/>
              </a:ext>
            </a:extLst>
          </p:cNvPr>
          <p:cNvSpPr>
            <a:spLocks noGrp="1"/>
          </p:cNvSpPr>
          <p:nvPr/>
        </p:nvSpPr>
        <p:spPr>
          <a:xfrm>
            <a:off x="8382000" y="1714500"/>
            <a:ext cx="2038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4" name="table-cell">
            <a:extLst>
              <a:ext uri="{FF2B5EF4-FFF2-40B4-BE49-F238E27FC236}">
                <a16:creationId xmlns:a16="http://schemas.microsoft.com/office/drawing/2014/main" id="{8456B6BD-CC28-4C99-9D71-5EF819DBC40F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3143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5" name="table-text">
            <a:extLst>
              <a:ext uri="{FF2B5EF4-FFF2-40B4-BE49-F238E27FC236}">
                <a16:creationId xmlns:a16="http://schemas.microsoft.com/office/drawing/2014/main" id="{C479050F-09E2-4227-BA7C-B65FCB91161B}"/>
              </a:ext>
            </a:extLst>
          </p:cNvPr>
          <p:cNvSpPr>
            <a:spLocks noGrp="1"/>
          </p:cNvSpPr>
          <p:nvPr/>
        </p:nvSpPr>
        <p:spPr>
          <a:xfrm>
            <a:off x="762000" y="2362200"/>
            <a:ext cx="2990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2π 覆盖与 12m x 10m x 8m 包络</a:t>
            </a:r>
          </a:p>
        </p:txBody>
      </p:sp>
      <p:sp>
        <p:nvSpPr>
          <p:cNvPr id="16" name="table-cell">
            <a:extLst>
              <a:ext uri="{FF2B5EF4-FFF2-40B4-BE49-F238E27FC236}">
                <a16:creationId xmlns:a16="http://schemas.microsoft.com/office/drawing/2014/main" id="{6C5CDFD1-F910-4670-95D5-48269ED79E1C}"/>
              </a:ext>
            </a:extLst>
          </p:cNvPr>
          <p:cNvSpPr>
            <a:spLocks noGrp="1"/>
          </p:cNvSpPr>
          <p:nvPr/>
        </p:nvSpPr>
        <p:spPr>
          <a:xfrm>
            <a:off x="3829050" y="2286000"/>
            <a:ext cx="4476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7" name="table-text">
            <a:extLst>
              <a:ext uri="{FF2B5EF4-FFF2-40B4-BE49-F238E27FC236}">
                <a16:creationId xmlns:a16="http://schemas.microsoft.com/office/drawing/2014/main" id="{24A1BB8B-2DA9-4C88-BA87-8435B5372EF5}"/>
              </a:ext>
            </a:extLst>
          </p:cNvPr>
          <p:cNvSpPr>
            <a:spLocks noGrp="1"/>
          </p:cNvSpPr>
          <p:nvPr/>
        </p:nvSpPr>
        <p:spPr>
          <a:xfrm>
            <a:off x="3905250" y="2362200"/>
            <a:ext cx="4324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半球面 162 测点 + CST workpack</a:t>
            </a:r>
          </a:p>
        </p:txBody>
      </p:sp>
      <p:sp>
        <p:nvSpPr>
          <p:cNvPr id="18" name="table-cell">
            <a:extLst>
              <a:ext uri="{FF2B5EF4-FFF2-40B4-BE49-F238E27FC236}">
                <a16:creationId xmlns:a16="http://schemas.microsoft.com/office/drawing/2014/main" id="{071D4D4C-C974-498F-8507-BF3EB2B6C573}"/>
              </a:ext>
            </a:extLst>
          </p:cNvPr>
          <p:cNvSpPr>
            <a:spLocks noGrp="1"/>
          </p:cNvSpPr>
          <p:nvPr/>
        </p:nvSpPr>
        <p:spPr>
          <a:xfrm>
            <a:off x="8305800" y="228600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9" name="table-text">
            <a:extLst>
              <a:ext uri="{FF2B5EF4-FFF2-40B4-BE49-F238E27FC236}">
                <a16:creationId xmlns:a16="http://schemas.microsoft.com/office/drawing/2014/main" id="{300E72AA-82F7-47E6-8E62-D5CD6E178BC9}"/>
              </a:ext>
            </a:extLst>
          </p:cNvPr>
          <p:cNvSpPr>
            <a:spLocks noGrp="1"/>
          </p:cNvSpPr>
          <p:nvPr/>
        </p:nvSpPr>
        <p:spPr>
          <a:xfrm>
            <a:off x="8382000" y="2362200"/>
            <a:ext cx="2038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Ready</a:t>
            </a:r>
          </a:p>
        </p:txBody>
      </p:sp>
      <p:sp>
        <p:nvSpPr>
          <p:cNvPr id="20" name="table-cell">
            <a:extLst>
              <a:ext uri="{FF2B5EF4-FFF2-40B4-BE49-F238E27FC236}">
                <a16:creationId xmlns:a16="http://schemas.microsoft.com/office/drawing/2014/main" id="{BB94A05D-83A4-4375-B5A5-DB1D880FBE8E}"/>
              </a:ext>
            </a:extLst>
          </p:cNvPr>
          <p:cNvSpPr>
            <a:spLocks noGrp="1"/>
          </p:cNvSpPr>
          <p:nvPr/>
        </p:nvSpPr>
        <p:spPr>
          <a:xfrm>
            <a:off x="685800" y="2933700"/>
            <a:ext cx="3143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1" name="table-text">
            <a:extLst>
              <a:ext uri="{FF2B5EF4-FFF2-40B4-BE49-F238E27FC236}">
                <a16:creationId xmlns:a16="http://schemas.microsoft.com/office/drawing/2014/main" id="{B39FCE2C-E65C-45ED-B240-40AE208576ED}"/>
              </a:ext>
            </a:extLst>
          </p:cNvPr>
          <p:cNvSpPr>
            <a:spLocks noGrp="1"/>
          </p:cNvSpPr>
          <p:nvPr/>
        </p:nvSpPr>
        <p:spPr>
          <a:xfrm>
            <a:off x="762000" y="3009900"/>
            <a:ext cx="2990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三维场域重建与少测点</a:t>
            </a:r>
          </a:p>
        </p:txBody>
      </p:sp>
      <p:sp>
        <p:nvSpPr>
          <p:cNvPr id="22" name="table-cell">
            <a:extLst>
              <a:ext uri="{FF2B5EF4-FFF2-40B4-BE49-F238E27FC236}">
                <a16:creationId xmlns:a16="http://schemas.microsoft.com/office/drawing/2014/main" id="{701CEA38-6105-49B0-A8A4-03F0167C2104}"/>
              </a:ext>
            </a:extLst>
          </p:cNvPr>
          <p:cNvSpPr>
            <a:spLocks noGrp="1"/>
          </p:cNvSpPr>
          <p:nvPr/>
        </p:nvSpPr>
        <p:spPr>
          <a:xfrm>
            <a:off x="3829050" y="2933700"/>
            <a:ext cx="4476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3" name="table-text">
            <a:extLst>
              <a:ext uri="{FF2B5EF4-FFF2-40B4-BE49-F238E27FC236}">
                <a16:creationId xmlns:a16="http://schemas.microsoft.com/office/drawing/2014/main" id="{7C55B154-9248-497F-BDC9-AF92456082EA}"/>
              </a:ext>
            </a:extLst>
          </p:cNvPr>
          <p:cNvSpPr>
            <a:spLocks noGrp="1"/>
          </p:cNvSpPr>
          <p:nvPr/>
        </p:nvSpPr>
        <p:spPr>
          <a:xfrm>
            <a:off x="3905250" y="3009900"/>
            <a:ext cx="4324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Level 1 required + 角域校准 + 鲁棒性曲线</a:t>
            </a:r>
          </a:p>
        </p:txBody>
      </p:sp>
      <p:sp>
        <p:nvSpPr>
          <p:cNvPr id="24" name="table-cell">
            <a:extLst>
              <a:ext uri="{FF2B5EF4-FFF2-40B4-BE49-F238E27FC236}">
                <a16:creationId xmlns:a16="http://schemas.microsoft.com/office/drawing/2014/main" id="{E645F4ED-2165-4AA6-83D1-B32F2F94E618}"/>
              </a:ext>
            </a:extLst>
          </p:cNvPr>
          <p:cNvSpPr>
            <a:spLocks noGrp="1"/>
          </p:cNvSpPr>
          <p:nvPr/>
        </p:nvSpPr>
        <p:spPr>
          <a:xfrm>
            <a:off x="8305800" y="293370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5" name="table-text">
            <a:extLst>
              <a:ext uri="{FF2B5EF4-FFF2-40B4-BE49-F238E27FC236}">
                <a16:creationId xmlns:a16="http://schemas.microsoft.com/office/drawing/2014/main" id="{04A78988-5356-4BA8-A972-A8558F7161BE}"/>
              </a:ext>
            </a:extLst>
          </p:cNvPr>
          <p:cNvSpPr>
            <a:spLocks noGrp="1"/>
          </p:cNvSpPr>
          <p:nvPr/>
        </p:nvSpPr>
        <p:spPr>
          <a:xfrm>
            <a:off x="8382000" y="3009900"/>
            <a:ext cx="2038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模型边界待成稿</a:t>
            </a:r>
          </a:p>
        </p:txBody>
      </p:sp>
      <p:sp>
        <p:nvSpPr>
          <p:cNvPr id="26" name="table-cell">
            <a:extLst>
              <a:ext uri="{FF2B5EF4-FFF2-40B4-BE49-F238E27FC236}">
                <a16:creationId xmlns:a16="http://schemas.microsoft.com/office/drawing/2014/main" id="{5B2303FC-3792-4319-9DCD-824B10B64F40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3143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7" name="table-text">
            <a:extLst>
              <a:ext uri="{FF2B5EF4-FFF2-40B4-BE49-F238E27FC236}">
                <a16:creationId xmlns:a16="http://schemas.microsoft.com/office/drawing/2014/main" id="{F72A91B5-63F1-440B-A7F2-77BB7C41AB0F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2990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空间-频谱特征辨识 &gt;=85%</a:t>
            </a:r>
          </a:p>
        </p:txBody>
      </p:sp>
      <p:sp>
        <p:nvSpPr>
          <p:cNvPr id="28" name="table-cell">
            <a:extLst>
              <a:ext uri="{FF2B5EF4-FFF2-40B4-BE49-F238E27FC236}">
                <a16:creationId xmlns:a16="http://schemas.microsoft.com/office/drawing/2014/main" id="{5110981B-026A-4DAD-BB55-D7E148A921C3}"/>
              </a:ext>
            </a:extLst>
          </p:cNvPr>
          <p:cNvSpPr>
            <a:spLocks noGrp="1"/>
          </p:cNvSpPr>
          <p:nvPr/>
        </p:nvSpPr>
        <p:spPr>
          <a:xfrm>
            <a:off x="3829050" y="3581400"/>
            <a:ext cx="4476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9" name="table-text">
            <a:extLst>
              <a:ext uri="{FF2B5EF4-FFF2-40B4-BE49-F238E27FC236}">
                <a16:creationId xmlns:a16="http://schemas.microsoft.com/office/drawing/2014/main" id="{FBF6EEE7-77F5-4D5B-81FC-F462FE2D4AC6}"/>
              </a:ext>
            </a:extLst>
          </p:cNvPr>
          <p:cNvSpPr>
            <a:spLocks noGrp="1"/>
          </p:cNvSpPr>
          <p:nvPr/>
        </p:nvSpPr>
        <p:spPr>
          <a:xfrm>
            <a:off x="3905250" y="3657600"/>
            <a:ext cx="4324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Level 2 full48 + 消融 + 结构遮挡跨域</a:t>
            </a:r>
          </a:p>
        </p:txBody>
      </p:sp>
      <p:sp>
        <p:nvSpPr>
          <p:cNvPr id="30" name="table-cell">
            <a:extLst>
              <a:ext uri="{FF2B5EF4-FFF2-40B4-BE49-F238E27FC236}">
                <a16:creationId xmlns:a16="http://schemas.microsoft.com/office/drawing/2014/main" id="{DB713D51-70DC-4EC3-AE11-1AB99372F913}"/>
              </a:ext>
            </a:extLst>
          </p:cNvPr>
          <p:cNvSpPr>
            <a:spLocks noGrp="1"/>
          </p:cNvSpPr>
          <p:nvPr/>
        </p:nvSpPr>
        <p:spPr>
          <a:xfrm>
            <a:off x="8305800" y="358140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1" name="table-text">
            <a:extLst>
              <a:ext uri="{FF2B5EF4-FFF2-40B4-BE49-F238E27FC236}">
                <a16:creationId xmlns:a16="http://schemas.microsoft.com/office/drawing/2014/main" id="{C6077C18-15AC-4F9B-8E7E-4A92E60F5849}"/>
              </a:ext>
            </a:extLst>
          </p:cNvPr>
          <p:cNvSpPr>
            <a:spLocks noGrp="1"/>
          </p:cNvSpPr>
          <p:nvPr/>
        </p:nvSpPr>
        <p:spPr>
          <a:xfrm>
            <a:off x="8382000" y="3657600"/>
            <a:ext cx="2038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Ready</a:t>
            </a:r>
          </a:p>
        </p:txBody>
      </p:sp>
      <p:sp>
        <p:nvSpPr>
          <p:cNvPr id="32" name="table-cell">
            <a:extLst>
              <a:ext uri="{FF2B5EF4-FFF2-40B4-BE49-F238E27FC236}">
                <a16:creationId xmlns:a16="http://schemas.microsoft.com/office/drawing/2014/main" id="{97BA4B48-2C39-49B6-A5AD-85817DFD14B5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3143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3" name="table-text">
            <a:extLst>
              <a:ext uri="{FF2B5EF4-FFF2-40B4-BE49-F238E27FC236}">
                <a16:creationId xmlns:a16="http://schemas.microsoft.com/office/drawing/2014/main" id="{0A2388C4-4851-406B-92EC-26F69AC00462}"/>
              </a:ext>
            </a:extLst>
          </p:cNvPr>
          <p:cNvSpPr>
            <a:spLocks noGrp="1"/>
          </p:cNvSpPr>
          <p:nvPr/>
        </p:nvSpPr>
        <p:spPr>
          <a:xfrm>
            <a:off x="762000" y="4305300"/>
            <a:ext cx="2990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最终交付物</a:t>
            </a:r>
          </a:p>
        </p:txBody>
      </p:sp>
      <p:sp>
        <p:nvSpPr>
          <p:cNvPr id="34" name="table-cell">
            <a:extLst>
              <a:ext uri="{FF2B5EF4-FFF2-40B4-BE49-F238E27FC236}">
                <a16:creationId xmlns:a16="http://schemas.microsoft.com/office/drawing/2014/main" id="{0E1DA76C-2F16-4218-A9A2-B797C9126C35}"/>
              </a:ext>
            </a:extLst>
          </p:cNvPr>
          <p:cNvSpPr>
            <a:spLocks noGrp="1"/>
          </p:cNvSpPr>
          <p:nvPr/>
        </p:nvSpPr>
        <p:spPr>
          <a:xfrm>
            <a:off x="3829050" y="4229100"/>
            <a:ext cx="4476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5" name="table-text">
            <a:extLst>
              <a:ext uri="{FF2B5EF4-FFF2-40B4-BE49-F238E27FC236}">
                <a16:creationId xmlns:a16="http://schemas.microsoft.com/office/drawing/2014/main" id="{6284466E-5057-4336-B704-BB1F1C81BC1A}"/>
              </a:ext>
            </a:extLst>
          </p:cNvPr>
          <p:cNvSpPr>
            <a:spLocks noGrp="1"/>
          </p:cNvSpPr>
          <p:nvPr/>
        </p:nvSpPr>
        <p:spPr>
          <a:xfrm>
            <a:off x="3905250" y="4305300"/>
            <a:ext cx="4324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报告/PPT/视频/代码/CST/data</a:t>
            </a:r>
          </a:p>
        </p:txBody>
      </p:sp>
      <p:sp>
        <p:nvSpPr>
          <p:cNvPr id="36" name="table-cell">
            <a:extLst>
              <a:ext uri="{FF2B5EF4-FFF2-40B4-BE49-F238E27FC236}">
                <a16:creationId xmlns:a16="http://schemas.microsoft.com/office/drawing/2014/main" id="{99112834-3506-4B5C-9DB4-D44AB8D2263C}"/>
              </a:ext>
            </a:extLst>
          </p:cNvPr>
          <p:cNvSpPr>
            <a:spLocks noGrp="1"/>
          </p:cNvSpPr>
          <p:nvPr/>
        </p:nvSpPr>
        <p:spPr>
          <a:xfrm>
            <a:off x="8305800" y="422910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7" name="table-text">
            <a:extLst>
              <a:ext uri="{FF2B5EF4-FFF2-40B4-BE49-F238E27FC236}">
                <a16:creationId xmlns:a16="http://schemas.microsoft.com/office/drawing/2014/main" id="{CC18FC7A-B756-4A74-90AE-CE7D933CFAC7}"/>
              </a:ext>
            </a:extLst>
          </p:cNvPr>
          <p:cNvSpPr>
            <a:spLocks noGrp="1"/>
          </p:cNvSpPr>
          <p:nvPr/>
        </p:nvSpPr>
        <p:spPr>
          <a:xfrm>
            <a:off x="8382000" y="4305300"/>
            <a:ext cx="2038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G5 收口中</a:t>
            </a:r>
          </a:p>
        </p:txBody>
      </p:sp>
      <p:sp>
        <p:nvSpPr>
          <p:cNvPr id="38" name="note-box">
            <a:extLst>
              <a:ext uri="{FF2B5EF4-FFF2-40B4-BE49-F238E27FC236}">
                <a16:creationId xmlns:a16="http://schemas.microsoft.com/office/drawing/2014/main" id="{EAB0F873-BCE5-4054-AA83-E4CF61DA419C}"/>
              </a:ext>
            </a:extLst>
          </p:cNvPr>
          <p:cNvSpPr>
            <a:spLocks noGrp="1"/>
          </p:cNvSpPr>
          <p:nvPr/>
        </p:nvSpPr>
        <p:spPr>
          <a:xfrm>
            <a:off x="685800" y="5448300"/>
            <a:ext cx="9810750" cy="590550"/>
          </a:xfrm>
          <a:prstGeom prst="rect">
            <a:avLst/>
          </a:prstGeom>
          <a:solidFill>
            <a:srgbClr val="F7EBD8"/>
          </a:solidFill>
          <a:ln w="9525">
            <a:solidFill>
              <a:srgbClr val="E2D2B8"/>
            </a:solidFill>
            <a:prstDash val="solid"/>
          </a:ln>
        </p:spPr>
      </p:sp>
      <p:sp>
        <p:nvSpPr>
          <p:cNvPr id="39" name="note-text">
            <a:extLst>
              <a:ext uri="{FF2B5EF4-FFF2-40B4-BE49-F238E27FC236}">
                <a16:creationId xmlns:a16="http://schemas.microsoft.com/office/drawing/2014/main" id="{87CEAAA0-C693-4F55-AEF4-CB5EE50AA16B}"/>
              </a:ext>
            </a:extLst>
          </p:cNvPr>
          <p:cNvSpPr>
            <a:spLocks noGrp="1"/>
          </p:cNvSpPr>
          <p:nvPr/>
        </p:nvSpPr>
        <p:spPr>
          <a:xfrm>
            <a:off x="857250" y="5543550"/>
            <a:ext cx="9467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审计口径：completion_proven 只能在正式 PDF/DOCX/PPTX/MP4 和提交包审计全部通过后置为 true。</a:t>
            </a:r>
          </a:p>
        </p:txBody>
      </p:sp>
    </p:spTree>
    <p:extLst>
      <p:ext uri="{BB962C8B-B14F-4D97-AF65-F5344CB8AC3E}">
        <p14:creationId xmlns:p14="http://schemas.microsoft.com/office/powerpoint/2010/main" val="1880933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2000"/>
    </mc:Choice>
    <mc:Fallback>
      <p:transition spd="slow" advClick="0" advTm="1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bg">
            <a:extLst>
              <a:ext uri="{FF2B5EF4-FFF2-40B4-BE49-F238E27FC236}">
                <a16:creationId xmlns:a16="http://schemas.microsoft.com/office/drawing/2014/main" id="{C0272618-18CA-4588-9411-646A424786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2F1907EC-7103-424E-A5C8-9399222B7A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E7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94C60D3F-91B2-4A0D-8661-0B0F60F6E2BA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76200" cy="76200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945A8DA0-0110-4C30-AC57-179A91548A63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文献迁移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617E7366-B6EC-43EA-AED9-9FA6F8A54172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7810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方法不是从零拼装，而是从近场测量、等效源、压缩采样和辐射指纹四条主线迁移</a:t>
            </a:r>
          </a:p>
        </p:txBody>
      </p:sp>
      <p:sp>
        <p:nvSpPr>
          <p:cNvPr id="6" name="page-marker">
            <a:extLst>
              <a:ext uri="{FF2B5EF4-FFF2-40B4-BE49-F238E27FC236}">
                <a16:creationId xmlns:a16="http://schemas.microsoft.com/office/drawing/2014/main" id="{3C8181C3-BF8D-4B63-8DBA-CF29C453E7A2}"/>
              </a:ext>
            </a:extLst>
          </p:cNvPr>
          <p:cNvSpPr>
            <a:spLocks noGrp="1"/>
          </p:cNvSpPr>
          <p:nvPr/>
        </p:nvSpPr>
        <p:spPr>
          <a:xfrm>
            <a:off x="11239500" y="61150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BF0A17-F842-4422-B419-F22128244BB4}"/>
              </a:ext>
            </a:extLst>
          </p:cNvPr>
          <p:cNvSpPr>
            <a:spLocks noGrp="1"/>
          </p:cNvSpPr>
          <p:nvPr/>
        </p:nvSpPr>
        <p:spPr>
          <a:xfrm>
            <a:off x="552450" y="613410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F90233-04B2-4905-A606-1912BA5CEC12}"/>
              </a:ext>
            </a:extLst>
          </p:cNvPr>
          <p:cNvSpPr>
            <a:spLocks noGrp="1"/>
          </p:cNvSpPr>
          <p:nvPr/>
        </p:nvSpPr>
        <p:spPr>
          <a:xfrm>
            <a:off x="857250" y="1695450"/>
            <a:ext cx="1619250" cy="552450"/>
          </a:xfrm>
          <a:prstGeom prst="rect">
            <a:avLst/>
          </a:prstGeom>
          <a:solidFill>
            <a:srgbClr val="2E7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B16FAB-C678-4246-B999-821C7D725303}"/>
              </a:ext>
            </a:extLst>
          </p:cNvPr>
          <p:cNvSpPr>
            <a:spLocks noGrp="1"/>
          </p:cNvSpPr>
          <p:nvPr/>
        </p:nvSpPr>
        <p:spPr>
          <a:xfrm>
            <a:off x="1000125" y="18478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IEEE 149/1720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1B0F4C9-ACCF-41EC-B3AB-558A0C9F615F}"/>
              </a:ext>
            </a:extLst>
          </p:cNvPr>
          <p:cNvSpPr>
            <a:spLocks noGrp="1"/>
          </p:cNvSpPr>
          <p:nvPr/>
        </p:nvSpPr>
        <p:spPr>
          <a:xfrm>
            <a:off x="2781300" y="1695450"/>
            <a:ext cx="590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B1089F-64CE-4EA9-9EEE-7BFB353A386F}"/>
              </a:ext>
            </a:extLst>
          </p:cNvPr>
          <p:cNvSpPr>
            <a:spLocks noGrp="1"/>
          </p:cNvSpPr>
          <p:nvPr/>
        </p:nvSpPr>
        <p:spPr>
          <a:xfrm>
            <a:off x="3009900" y="184785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标准测量与近远场变换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CC3A862-FBB4-41A9-8284-CF3A20328236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1619250" cy="552450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F64696E-AB3F-4847-AE7F-18EDD84C4BF7}"/>
              </a:ext>
            </a:extLst>
          </p:cNvPr>
          <p:cNvSpPr>
            <a:spLocks noGrp="1"/>
          </p:cNvSpPr>
          <p:nvPr/>
        </p:nvSpPr>
        <p:spPr>
          <a:xfrm>
            <a:off x="1000125" y="27241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IEEE TAP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22DE500-02E5-4A90-81A7-52D6B5F97599}"/>
              </a:ext>
            </a:extLst>
          </p:cNvPr>
          <p:cNvSpPr>
            <a:spLocks noGrp="1"/>
          </p:cNvSpPr>
          <p:nvPr/>
        </p:nvSpPr>
        <p:spPr>
          <a:xfrm>
            <a:off x="2781300" y="2571750"/>
            <a:ext cx="590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ECDE6B1-1BF4-405E-A214-2FC1DA6A997C}"/>
              </a:ext>
            </a:extLst>
          </p:cNvPr>
          <p:cNvSpPr>
            <a:spLocks noGrp="1"/>
          </p:cNvSpPr>
          <p:nvPr/>
        </p:nvSpPr>
        <p:spPr>
          <a:xfrm>
            <a:off x="3009900" y="272415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任意曲面 NF-FF 与等效源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82D17E-4842-4D79-ADA9-BA2D5B8A8C22}"/>
              </a:ext>
            </a:extLst>
          </p:cNvPr>
          <p:cNvSpPr>
            <a:spLocks noGrp="1"/>
          </p:cNvSpPr>
          <p:nvPr/>
        </p:nvSpPr>
        <p:spPr>
          <a:xfrm>
            <a:off x="857250" y="3448050"/>
            <a:ext cx="1619250" cy="552450"/>
          </a:xfrm>
          <a:prstGeom prst="rect">
            <a:avLst/>
          </a:prstGeom>
          <a:solidFill>
            <a:srgbClr val="B879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D871CFA-286F-48D5-8F1F-5E635C054BF2}"/>
              </a:ext>
            </a:extLst>
          </p:cNvPr>
          <p:cNvSpPr>
            <a:spLocks noGrp="1"/>
          </p:cNvSpPr>
          <p:nvPr/>
        </p:nvSpPr>
        <p:spPr>
          <a:xfrm>
            <a:off x="1000125" y="36004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IEEE TSP/JSTSP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6DC1A41-2319-410F-ACA9-29CD711340E8}"/>
              </a:ext>
            </a:extLst>
          </p:cNvPr>
          <p:cNvSpPr>
            <a:spLocks noGrp="1"/>
          </p:cNvSpPr>
          <p:nvPr/>
        </p:nvSpPr>
        <p:spPr>
          <a:xfrm>
            <a:off x="2781300" y="3448050"/>
            <a:ext cx="590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54BD87C-86B2-4FCB-8CEF-3F17713914B4}"/>
              </a:ext>
            </a:extLst>
          </p:cNvPr>
          <p:cNvSpPr>
            <a:spLocks noGrp="1"/>
          </p:cNvSpPr>
          <p:nvPr/>
        </p:nvSpPr>
        <p:spPr>
          <a:xfrm>
            <a:off x="3009900" y="360045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压缩感知与少测点优化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24CF20F-1C6E-4B62-8E03-60B537C73F80}"/>
              </a:ext>
            </a:extLst>
          </p:cNvPr>
          <p:cNvSpPr>
            <a:spLocks noGrp="1"/>
          </p:cNvSpPr>
          <p:nvPr/>
        </p:nvSpPr>
        <p:spPr>
          <a:xfrm>
            <a:off x="857250" y="4324350"/>
            <a:ext cx="1619250" cy="552450"/>
          </a:xfrm>
          <a:prstGeom prst="rect">
            <a:avLst/>
          </a:prstGeom>
          <a:solidFill>
            <a:srgbClr val="7A5F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00C69EA-F76D-4C39-8267-4F2060308877}"/>
              </a:ext>
            </a:extLst>
          </p:cNvPr>
          <p:cNvSpPr>
            <a:spLocks noGrp="1"/>
          </p:cNvSpPr>
          <p:nvPr/>
        </p:nvSpPr>
        <p:spPr>
          <a:xfrm>
            <a:off x="1000125" y="44767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RF/SEI 文献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27D6B7C-7BB1-4D40-88AB-A09B95756A76}"/>
              </a:ext>
            </a:extLst>
          </p:cNvPr>
          <p:cNvSpPr>
            <a:spLocks noGrp="1"/>
          </p:cNvSpPr>
          <p:nvPr/>
        </p:nvSpPr>
        <p:spPr>
          <a:xfrm>
            <a:off x="2781300" y="4324350"/>
            <a:ext cx="590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801B42-EC26-4194-8E1E-3094B25014BC}"/>
              </a:ext>
            </a:extLst>
          </p:cNvPr>
          <p:cNvSpPr>
            <a:spLocks noGrp="1"/>
          </p:cNvSpPr>
          <p:nvPr/>
        </p:nvSpPr>
        <p:spPr>
          <a:xfrm>
            <a:off x="3009900" y="4476750"/>
            <a:ext cx="533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空-频-极化联合指纹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CEADAC0-4C5D-4EDE-86AC-EB8E0AFA6908}"/>
              </a:ext>
            </a:extLst>
          </p:cNvPr>
          <p:cNvSpPr>
            <a:spLocks noGrp="1"/>
          </p:cNvSpPr>
          <p:nvPr/>
        </p:nvSpPr>
        <p:spPr>
          <a:xfrm>
            <a:off x="952500" y="5429250"/>
            <a:ext cx="819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迁移到赛题：半球面测量 → 等效源/角域校准 → 少测点 → 多源状态识别</a:t>
            </a:r>
          </a:p>
        </p:txBody>
      </p:sp>
    </p:spTree>
    <p:extLst>
      <p:ext uri="{BB962C8B-B14F-4D97-AF65-F5344CB8AC3E}">
        <p14:creationId xmlns:p14="http://schemas.microsoft.com/office/powerpoint/2010/main" val="1106232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4000"/>
    </mc:Choice>
    <mc:Fallback>
      <p:transition spd="slow" advClick="0" advTm="14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-bg">
            <a:extLst>
              <a:ext uri="{FF2B5EF4-FFF2-40B4-BE49-F238E27FC236}">
                <a16:creationId xmlns:a16="http://schemas.microsoft.com/office/drawing/2014/main" id="{3E2EB521-10C3-4231-B37A-E316CC5AD2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8614307E-338C-40CF-8E2E-ACBAC2176B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E7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4AA4999B-58D9-4F72-8E4A-6A15CA7846A4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76200" cy="76200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75A26D12-AB66-489A-839E-FE1FD70A1903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A39EB345-5800-4E8D-897B-216F15EF98AC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7810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CST 负责可信电磁数据源，Python 负责重建、识别和审计闭环</a:t>
            </a:r>
          </a:p>
        </p:txBody>
      </p:sp>
      <p:sp>
        <p:nvSpPr>
          <p:cNvPr id="6" name="page-marker">
            <a:extLst>
              <a:ext uri="{FF2B5EF4-FFF2-40B4-BE49-F238E27FC236}">
                <a16:creationId xmlns:a16="http://schemas.microsoft.com/office/drawing/2014/main" id="{E000B34F-3BA6-49F0-8AB7-7359CDAFA0B8}"/>
              </a:ext>
            </a:extLst>
          </p:cNvPr>
          <p:cNvSpPr>
            <a:spLocks noGrp="1"/>
          </p:cNvSpPr>
          <p:nvPr/>
        </p:nvSpPr>
        <p:spPr>
          <a:xfrm>
            <a:off x="11239500" y="61150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653A5306-68D5-4006-8CE0-D51059757205}"/>
              </a:ext>
            </a:extLst>
          </p:cNvPr>
          <p:cNvSpPr>
            <a:spLocks noGrp="1"/>
          </p:cNvSpPr>
          <p:nvPr/>
        </p:nvSpPr>
        <p:spPr>
          <a:xfrm>
            <a:off x="552450" y="613410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C676B8-5DA4-4C53-94DC-356B1004612C}"/>
              </a:ext>
            </a:extLst>
          </p:cNvPr>
          <p:cNvSpPr>
            <a:spLocks noGrp="1"/>
          </p:cNvSpPr>
          <p:nvPr/>
        </p:nvSpPr>
        <p:spPr>
          <a:xfrm>
            <a:off x="762000" y="2038350"/>
            <a:ext cx="2095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AE9CCA-02D1-4AC3-918C-00C1A3B19CDC}"/>
              </a:ext>
            </a:extLst>
          </p:cNvPr>
          <p:cNvSpPr>
            <a:spLocks noGrp="1"/>
          </p:cNvSpPr>
          <p:nvPr/>
        </p:nvSpPr>
        <p:spPr>
          <a:xfrm>
            <a:off x="971550" y="2266950"/>
            <a:ext cx="167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CST 建模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CC26E4-386A-4D29-BB52-438C569F1A2A}"/>
              </a:ext>
            </a:extLst>
          </p:cNvPr>
          <p:cNvSpPr>
            <a:spLocks noGrp="1"/>
          </p:cNvSpPr>
          <p:nvPr/>
        </p:nvSpPr>
        <p:spPr>
          <a:xfrm>
            <a:off x="933450" y="2686050"/>
            <a:ext cx="1752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标准源 / element-library / 简化结构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434F336-79F6-4C05-9887-FBE84DB58EF8}"/>
              </a:ext>
            </a:extLst>
          </p:cNvPr>
          <p:cNvSpPr>
            <a:spLocks noGrp="1"/>
          </p:cNvSpPr>
          <p:nvPr/>
        </p:nvSpPr>
        <p:spPr>
          <a:xfrm>
            <a:off x="3000375" y="2428875"/>
            <a:ext cx="323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5F8577F-75B4-4586-890C-7E92BB23662F}"/>
              </a:ext>
            </a:extLst>
          </p:cNvPr>
          <p:cNvSpPr>
            <a:spLocks noGrp="1"/>
          </p:cNvSpPr>
          <p:nvPr/>
        </p:nvSpPr>
        <p:spPr>
          <a:xfrm>
            <a:off x="3476625" y="2038350"/>
            <a:ext cx="2095500" cy="1333500"/>
          </a:xfrm>
          <a:prstGeom prst="rect">
            <a:avLst/>
          </a:prstGeom>
          <a:solidFill>
            <a:srgbClr val="E8F1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707538D-C4EB-4EA6-AB2D-56BA27403A4C}"/>
              </a:ext>
            </a:extLst>
          </p:cNvPr>
          <p:cNvSpPr>
            <a:spLocks noGrp="1"/>
          </p:cNvSpPr>
          <p:nvPr/>
        </p:nvSpPr>
        <p:spPr>
          <a:xfrm>
            <a:off x="3686175" y="2266950"/>
            <a:ext cx="167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数据导出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3067593-D90A-476C-BAAA-BC8032A8A264}"/>
              </a:ext>
            </a:extLst>
          </p:cNvPr>
          <p:cNvSpPr>
            <a:spLocks noGrp="1"/>
          </p:cNvSpPr>
          <p:nvPr/>
        </p:nvSpPr>
        <p:spPr>
          <a:xfrm>
            <a:off x="3648075" y="2686050"/>
            <a:ext cx="1752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nearfield / farfield / labels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B279CE4-2B68-43C3-9F30-E7C0BFA7F47F}"/>
              </a:ext>
            </a:extLst>
          </p:cNvPr>
          <p:cNvSpPr>
            <a:spLocks noGrp="1"/>
          </p:cNvSpPr>
          <p:nvPr/>
        </p:nvSpPr>
        <p:spPr>
          <a:xfrm>
            <a:off x="5715000" y="2428875"/>
            <a:ext cx="323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F14A312-51CC-40E0-BAAA-297325A4E59D}"/>
              </a:ext>
            </a:extLst>
          </p:cNvPr>
          <p:cNvSpPr>
            <a:spLocks noGrp="1"/>
          </p:cNvSpPr>
          <p:nvPr/>
        </p:nvSpPr>
        <p:spPr>
          <a:xfrm>
            <a:off x="6191250" y="2038350"/>
            <a:ext cx="2095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9C8226-67D9-4FBF-8A21-37066AF716AE}"/>
              </a:ext>
            </a:extLst>
          </p:cNvPr>
          <p:cNvSpPr>
            <a:spLocks noGrp="1"/>
          </p:cNvSpPr>
          <p:nvPr/>
        </p:nvSpPr>
        <p:spPr>
          <a:xfrm>
            <a:off x="6400800" y="2266950"/>
            <a:ext cx="167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算法处理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72C4E0C-BDA7-4402-A742-4188748B201C}"/>
              </a:ext>
            </a:extLst>
          </p:cNvPr>
          <p:cNvSpPr>
            <a:spLocks noGrp="1"/>
          </p:cNvSpPr>
          <p:nvPr/>
        </p:nvSpPr>
        <p:spPr>
          <a:xfrm>
            <a:off x="6362700" y="2686050"/>
            <a:ext cx="1752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等效源重建 / 角域校准 / 特征工程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A2A1504-5AF3-463E-85B9-DF1A1AF6BF79}"/>
              </a:ext>
            </a:extLst>
          </p:cNvPr>
          <p:cNvSpPr>
            <a:spLocks noGrp="1"/>
          </p:cNvSpPr>
          <p:nvPr/>
        </p:nvSpPr>
        <p:spPr>
          <a:xfrm>
            <a:off x="8429625" y="2428875"/>
            <a:ext cx="323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81539D-8E80-4713-BDC7-9A7BDC7D8035}"/>
              </a:ext>
            </a:extLst>
          </p:cNvPr>
          <p:cNvSpPr>
            <a:spLocks noGrp="1"/>
          </p:cNvSpPr>
          <p:nvPr/>
        </p:nvSpPr>
        <p:spPr>
          <a:xfrm>
            <a:off x="8905875" y="2038350"/>
            <a:ext cx="2095500" cy="1333500"/>
          </a:xfrm>
          <a:prstGeom prst="rect">
            <a:avLst/>
          </a:prstGeom>
          <a:solidFill>
            <a:srgbClr val="E8F1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2A0C074-DD5E-42E0-BE6D-6B9B574E73BE}"/>
              </a:ext>
            </a:extLst>
          </p:cNvPr>
          <p:cNvSpPr>
            <a:spLocks noGrp="1"/>
          </p:cNvSpPr>
          <p:nvPr/>
        </p:nvSpPr>
        <p:spPr>
          <a:xfrm>
            <a:off x="9115425" y="2266950"/>
            <a:ext cx="1676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审计交付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D774C5D-D271-4D94-8375-E44EF445E7CC}"/>
              </a:ext>
            </a:extLst>
          </p:cNvPr>
          <p:cNvSpPr>
            <a:spLocks noGrp="1"/>
          </p:cNvSpPr>
          <p:nvPr/>
        </p:nvSpPr>
        <p:spPr>
          <a:xfrm>
            <a:off x="9077325" y="2686050"/>
            <a:ext cx="1752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scorecard / completion audit / submission</a:t>
            </a:r>
          </a:p>
        </p:txBody>
      </p:sp>
      <p:sp>
        <p:nvSpPr>
          <p:cNvPr id="23" name="table-cell">
            <a:extLst>
              <a:ext uri="{FF2B5EF4-FFF2-40B4-BE49-F238E27FC236}">
                <a16:creationId xmlns:a16="http://schemas.microsoft.com/office/drawing/2014/main" id="{09664F29-E7A1-4DA2-B9D9-CF0739B6F2CD}"/>
              </a:ext>
            </a:extLst>
          </p:cNvPr>
          <p:cNvSpPr>
            <a:spLocks noGrp="1"/>
          </p:cNvSpPr>
          <p:nvPr/>
        </p:nvSpPr>
        <p:spPr>
          <a:xfrm>
            <a:off x="2381250" y="4476750"/>
            <a:ext cx="1714500" cy="457200"/>
          </a:xfrm>
          <a:prstGeom prst="rect">
            <a:avLst/>
          </a:prstGeom>
          <a:solidFill>
            <a:srgbClr val="E7EEF6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4" name="table-text">
            <a:extLst>
              <a:ext uri="{FF2B5EF4-FFF2-40B4-BE49-F238E27FC236}">
                <a16:creationId xmlns:a16="http://schemas.microsoft.com/office/drawing/2014/main" id="{C8F5EFE6-3634-4C41-96B3-CD9A0CD5570B}"/>
              </a:ext>
            </a:extLst>
          </p:cNvPr>
          <p:cNvSpPr>
            <a:spLocks noGrp="1"/>
          </p:cNvSpPr>
          <p:nvPr/>
        </p:nvSpPr>
        <p:spPr>
          <a:xfrm>
            <a:off x="2457450" y="4552950"/>
            <a:ext cx="1562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Gate</a:t>
            </a:r>
          </a:p>
        </p:txBody>
      </p:sp>
      <p:sp>
        <p:nvSpPr>
          <p:cNvPr id="25" name="table-cell">
            <a:extLst>
              <a:ext uri="{FF2B5EF4-FFF2-40B4-BE49-F238E27FC236}">
                <a16:creationId xmlns:a16="http://schemas.microsoft.com/office/drawing/2014/main" id="{72420B95-167E-435D-9DE6-9BC9A9605EDB}"/>
              </a:ext>
            </a:extLst>
          </p:cNvPr>
          <p:cNvSpPr>
            <a:spLocks noGrp="1"/>
          </p:cNvSpPr>
          <p:nvPr/>
        </p:nvSpPr>
        <p:spPr>
          <a:xfrm>
            <a:off x="4095750" y="4476750"/>
            <a:ext cx="5524500" cy="457200"/>
          </a:xfrm>
          <a:prstGeom prst="rect">
            <a:avLst/>
          </a:prstGeom>
          <a:solidFill>
            <a:srgbClr val="E7EEF6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6" name="table-text">
            <a:extLst>
              <a:ext uri="{FF2B5EF4-FFF2-40B4-BE49-F238E27FC236}">
                <a16:creationId xmlns:a16="http://schemas.microsoft.com/office/drawing/2014/main" id="{1FA5A150-F3C0-4B59-9003-27ABD92D7F4B}"/>
              </a:ext>
            </a:extLst>
          </p:cNvPr>
          <p:cNvSpPr>
            <a:spLocks noGrp="1"/>
          </p:cNvSpPr>
          <p:nvPr/>
        </p:nvSpPr>
        <p:spPr>
          <a:xfrm>
            <a:off x="4171950" y="4552950"/>
            <a:ext cx="5372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当前结果</a:t>
            </a:r>
          </a:p>
        </p:txBody>
      </p:sp>
      <p:sp>
        <p:nvSpPr>
          <p:cNvPr id="27" name="table-cell">
            <a:extLst>
              <a:ext uri="{FF2B5EF4-FFF2-40B4-BE49-F238E27FC236}">
                <a16:creationId xmlns:a16="http://schemas.microsoft.com/office/drawing/2014/main" id="{634803E3-5D52-474A-8DD4-7B9A3758009E}"/>
              </a:ext>
            </a:extLst>
          </p:cNvPr>
          <p:cNvSpPr>
            <a:spLocks noGrp="1"/>
          </p:cNvSpPr>
          <p:nvPr/>
        </p:nvSpPr>
        <p:spPr>
          <a:xfrm>
            <a:off x="2381250" y="4933950"/>
            <a:ext cx="1714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8" name="table-text">
            <a:extLst>
              <a:ext uri="{FF2B5EF4-FFF2-40B4-BE49-F238E27FC236}">
                <a16:creationId xmlns:a16="http://schemas.microsoft.com/office/drawing/2014/main" id="{723B6023-484D-45F6-8FB0-66A5AD249067}"/>
              </a:ext>
            </a:extLst>
          </p:cNvPr>
          <p:cNvSpPr>
            <a:spLocks noGrp="1"/>
          </p:cNvSpPr>
          <p:nvPr/>
        </p:nvSpPr>
        <p:spPr>
          <a:xfrm>
            <a:off x="2457450" y="5010150"/>
            <a:ext cx="1562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G1/G2/G3/G4</a:t>
            </a:r>
          </a:p>
        </p:txBody>
      </p:sp>
      <p:sp>
        <p:nvSpPr>
          <p:cNvPr id="29" name="table-cell">
            <a:extLst>
              <a:ext uri="{FF2B5EF4-FFF2-40B4-BE49-F238E27FC236}">
                <a16:creationId xmlns:a16="http://schemas.microsoft.com/office/drawing/2014/main" id="{D6AB65D9-4E0D-4922-96AF-4DDBC058929B}"/>
              </a:ext>
            </a:extLst>
          </p:cNvPr>
          <p:cNvSpPr>
            <a:spLocks noGrp="1"/>
          </p:cNvSpPr>
          <p:nvPr/>
        </p:nvSpPr>
        <p:spPr>
          <a:xfrm>
            <a:off x="4095750" y="4933950"/>
            <a:ext cx="5524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0" name="table-text">
            <a:extLst>
              <a:ext uri="{FF2B5EF4-FFF2-40B4-BE49-F238E27FC236}">
                <a16:creationId xmlns:a16="http://schemas.microsoft.com/office/drawing/2014/main" id="{AC819963-240A-4B90-BFB4-503F616B3448}"/>
              </a:ext>
            </a:extLst>
          </p:cNvPr>
          <p:cNvSpPr>
            <a:spLocks noGrp="1"/>
          </p:cNvSpPr>
          <p:nvPr/>
        </p:nvSpPr>
        <p:spPr>
          <a:xfrm>
            <a:off x="4171950" y="5010150"/>
            <a:ext cx="5372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complete</a:t>
            </a:r>
          </a:p>
        </p:txBody>
      </p:sp>
      <p:sp>
        <p:nvSpPr>
          <p:cNvPr id="31" name="table-cell">
            <a:extLst>
              <a:ext uri="{FF2B5EF4-FFF2-40B4-BE49-F238E27FC236}">
                <a16:creationId xmlns:a16="http://schemas.microsoft.com/office/drawing/2014/main" id="{A9ECD917-94F3-4749-8B72-8EB27A5B9BAC}"/>
              </a:ext>
            </a:extLst>
          </p:cNvPr>
          <p:cNvSpPr>
            <a:spLocks noGrp="1"/>
          </p:cNvSpPr>
          <p:nvPr/>
        </p:nvSpPr>
        <p:spPr>
          <a:xfrm>
            <a:off x="2381250" y="5391150"/>
            <a:ext cx="1714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2" name="table-text">
            <a:extLst>
              <a:ext uri="{FF2B5EF4-FFF2-40B4-BE49-F238E27FC236}">
                <a16:creationId xmlns:a16="http://schemas.microsoft.com/office/drawing/2014/main" id="{2780CCAA-24E6-4284-8EF2-712A7238103B}"/>
              </a:ext>
            </a:extLst>
          </p:cNvPr>
          <p:cNvSpPr>
            <a:spLocks noGrp="1"/>
          </p:cNvSpPr>
          <p:nvPr/>
        </p:nvSpPr>
        <p:spPr>
          <a:xfrm>
            <a:off x="2457450" y="5467350"/>
            <a:ext cx="1562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G5</a:t>
            </a:r>
          </a:p>
        </p:txBody>
      </p:sp>
      <p:sp>
        <p:nvSpPr>
          <p:cNvPr id="33" name="table-cell">
            <a:extLst>
              <a:ext uri="{FF2B5EF4-FFF2-40B4-BE49-F238E27FC236}">
                <a16:creationId xmlns:a16="http://schemas.microsoft.com/office/drawing/2014/main" id="{7A9B99E4-B104-42B7-AEAD-5092E5D8D1AF}"/>
              </a:ext>
            </a:extLst>
          </p:cNvPr>
          <p:cNvSpPr>
            <a:spLocks noGrp="1"/>
          </p:cNvSpPr>
          <p:nvPr/>
        </p:nvSpPr>
        <p:spPr>
          <a:xfrm>
            <a:off x="4095750" y="5391150"/>
            <a:ext cx="55245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4" name="table-text">
            <a:extLst>
              <a:ext uri="{FF2B5EF4-FFF2-40B4-BE49-F238E27FC236}">
                <a16:creationId xmlns:a16="http://schemas.microsoft.com/office/drawing/2014/main" id="{C94D97F8-4ABD-4A05-B4AD-CCAE9CBA0916}"/>
              </a:ext>
            </a:extLst>
          </p:cNvPr>
          <p:cNvSpPr>
            <a:spLocks noGrp="1"/>
          </p:cNvSpPr>
          <p:nvPr/>
        </p:nvSpPr>
        <p:spPr>
          <a:xfrm>
            <a:off x="4171950" y="5467350"/>
            <a:ext cx="5372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partial：正式 PPTX/MP4 与最终审计仍需关闭</a:t>
            </a:r>
          </a:p>
        </p:txBody>
      </p:sp>
    </p:spTree>
    <p:extLst>
      <p:ext uri="{BB962C8B-B14F-4D97-AF65-F5344CB8AC3E}">
        <p14:creationId xmlns:p14="http://schemas.microsoft.com/office/powerpoint/2010/main" val="655689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3000"/>
    </mc:Choice>
    <mc:Fallback>
      <p:transition spd="slow" advClick="0" advTm="1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bg">
            <a:extLst>
              <a:ext uri="{FF2B5EF4-FFF2-40B4-BE49-F238E27FC236}">
                <a16:creationId xmlns:a16="http://schemas.microsoft.com/office/drawing/2014/main" id="{05559B60-65BE-4B3D-9746-7933DCEF3F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2776D0DC-7F42-4314-AA48-18D08D1748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E7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70E7C7D6-B2D0-46F7-AAC7-09999E7DABA5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76200" cy="76200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C8B355DF-9869-4779-B73F-B486E70E9D36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测量布局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7E9983EA-AD06-422D-BC63-050584119AFA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7810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13 m 半球面 162 测点覆盖 12m x 10m x 8m 被测空间</a:t>
            </a:r>
          </a:p>
        </p:txBody>
      </p:sp>
      <p:sp>
        <p:nvSpPr>
          <p:cNvPr id="6" name="page-marker">
            <a:extLst>
              <a:ext uri="{FF2B5EF4-FFF2-40B4-BE49-F238E27FC236}">
                <a16:creationId xmlns:a16="http://schemas.microsoft.com/office/drawing/2014/main" id="{ACBF1A8A-14C4-4A45-870D-AFC7C83FACE5}"/>
              </a:ext>
            </a:extLst>
          </p:cNvPr>
          <p:cNvSpPr>
            <a:spLocks noGrp="1"/>
          </p:cNvSpPr>
          <p:nvPr/>
        </p:nvSpPr>
        <p:spPr>
          <a:xfrm>
            <a:off x="11239500" y="61150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1F81EDAC-092F-471F-B8A6-336ABA248148}"/>
              </a:ext>
            </a:extLst>
          </p:cNvPr>
          <p:cNvSpPr>
            <a:spLocks noGrp="1"/>
          </p:cNvSpPr>
          <p:nvPr/>
        </p:nvSpPr>
        <p:spPr>
          <a:xfrm>
            <a:off x="552450" y="613410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image-frame">
            <a:extLst>
              <a:ext uri="{FF2B5EF4-FFF2-40B4-BE49-F238E27FC236}">
                <a16:creationId xmlns:a16="http://schemas.microsoft.com/office/drawing/2014/main" id="{07AD5FFF-90DA-4A35-82C5-032BB1941795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6267450" cy="3981450"/>
          </a:xfrm>
          <a:prstGeom prst="rect">
            <a:avLst/>
          </a:prstGeom>
          <a:solidFill>
            <a:srgbClr val="FFFFFF"/>
          </a:solidFill>
          <a:ln w="9525">
            <a:solidFill>
              <a:srgbClr val="CCD5DF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35075" y="1504950"/>
            <a:ext cx="5207000" cy="3905250"/>
          </a:xfrm>
          <a:prstGeom prst="rect">
            <a:avLst/>
          </a:prstGeom>
        </p:spPr>
      </p:pic>
      <p:sp>
        <p:nvSpPr>
          <p:cNvPr id="10" name="metric-box">
            <a:extLst>
              <a:ext uri="{FF2B5EF4-FFF2-40B4-BE49-F238E27FC236}">
                <a16:creationId xmlns:a16="http://schemas.microsoft.com/office/drawing/2014/main" id="{9F3DF0EA-4E6F-407B-A594-CBBE54545E47}"/>
              </a:ext>
            </a:extLst>
          </p:cNvPr>
          <p:cNvSpPr>
            <a:spLocks noGrp="1"/>
          </p:cNvSpPr>
          <p:nvPr/>
        </p:nvSpPr>
        <p:spPr>
          <a:xfrm>
            <a:off x="7524750" y="17145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1" name="metric-accent">
            <a:extLst>
              <a:ext uri="{FF2B5EF4-FFF2-40B4-BE49-F238E27FC236}">
                <a16:creationId xmlns:a16="http://schemas.microsoft.com/office/drawing/2014/main" id="{DC048136-7E9A-4675-ACFD-0CCBE7533701}"/>
              </a:ext>
            </a:extLst>
          </p:cNvPr>
          <p:cNvSpPr>
            <a:spLocks noGrp="1"/>
          </p:cNvSpPr>
          <p:nvPr/>
        </p:nvSpPr>
        <p:spPr>
          <a:xfrm>
            <a:off x="7524750" y="1714500"/>
            <a:ext cx="57150" cy="914400"/>
          </a:xfrm>
          <a:prstGeom prst="rect">
            <a:avLst/>
          </a:prstGeom>
          <a:solidFill>
            <a:srgbClr val="2E7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etric-value">
            <a:extLst>
              <a:ext uri="{FF2B5EF4-FFF2-40B4-BE49-F238E27FC236}">
                <a16:creationId xmlns:a16="http://schemas.microsoft.com/office/drawing/2014/main" id="{7D1F3CD1-39AC-4A56-A46B-8AA85E4444CA}"/>
              </a:ext>
            </a:extLst>
          </p:cNvPr>
          <p:cNvSpPr>
            <a:spLocks noGrp="1"/>
          </p:cNvSpPr>
          <p:nvPr/>
        </p:nvSpPr>
        <p:spPr>
          <a:xfrm>
            <a:off x="7734300" y="1828800"/>
            <a:ext cx="2095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162</a:t>
            </a:r>
          </a:p>
        </p:txBody>
      </p:sp>
      <p:sp>
        <p:nvSpPr>
          <p:cNvPr id="13" name="metric-label">
            <a:extLst>
              <a:ext uri="{FF2B5EF4-FFF2-40B4-BE49-F238E27FC236}">
                <a16:creationId xmlns:a16="http://schemas.microsoft.com/office/drawing/2014/main" id="{F526BEC0-7EE5-4625-BE76-BE89EC56DC11}"/>
              </a:ext>
            </a:extLst>
          </p:cNvPr>
          <p:cNvSpPr>
            <a:spLocks noGrp="1"/>
          </p:cNvSpPr>
          <p:nvPr/>
        </p:nvSpPr>
        <p:spPr>
          <a:xfrm>
            <a:off x="7734300" y="22288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空间测点</a:t>
            </a:r>
          </a:p>
        </p:txBody>
      </p:sp>
      <p:sp>
        <p:nvSpPr>
          <p:cNvPr id="14" name="metric-box">
            <a:extLst>
              <a:ext uri="{FF2B5EF4-FFF2-40B4-BE49-F238E27FC236}">
                <a16:creationId xmlns:a16="http://schemas.microsoft.com/office/drawing/2014/main" id="{32BDD68A-9193-4653-8152-DBECDEBC83EE}"/>
              </a:ext>
            </a:extLst>
          </p:cNvPr>
          <p:cNvSpPr>
            <a:spLocks noGrp="1"/>
          </p:cNvSpPr>
          <p:nvPr/>
        </p:nvSpPr>
        <p:spPr>
          <a:xfrm>
            <a:off x="7524750" y="28575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5" name="metric-accent">
            <a:extLst>
              <a:ext uri="{FF2B5EF4-FFF2-40B4-BE49-F238E27FC236}">
                <a16:creationId xmlns:a16="http://schemas.microsoft.com/office/drawing/2014/main" id="{EBB54614-BAEE-4756-9B89-CDD886A6F513}"/>
              </a:ext>
            </a:extLst>
          </p:cNvPr>
          <p:cNvSpPr>
            <a:spLocks noGrp="1"/>
          </p:cNvSpPr>
          <p:nvPr/>
        </p:nvSpPr>
        <p:spPr>
          <a:xfrm>
            <a:off x="7524750" y="2857500"/>
            <a:ext cx="57150" cy="914400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metric-value">
            <a:extLst>
              <a:ext uri="{FF2B5EF4-FFF2-40B4-BE49-F238E27FC236}">
                <a16:creationId xmlns:a16="http://schemas.microsoft.com/office/drawing/2014/main" id="{2EFCBCA2-4C24-43E1-BB7A-3BD628DDFF19}"/>
              </a:ext>
            </a:extLst>
          </p:cNvPr>
          <p:cNvSpPr>
            <a:spLocks noGrp="1"/>
          </p:cNvSpPr>
          <p:nvPr/>
        </p:nvSpPr>
        <p:spPr>
          <a:xfrm>
            <a:off x="7734300" y="2971800"/>
            <a:ext cx="2095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324</a:t>
            </a:r>
          </a:p>
        </p:txBody>
      </p:sp>
      <p:sp>
        <p:nvSpPr>
          <p:cNvPr id="17" name="metric-label">
            <a:extLst>
              <a:ext uri="{FF2B5EF4-FFF2-40B4-BE49-F238E27FC236}">
                <a16:creationId xmlns:a16="http://schemas.microsoft.com/office/drawing/2014/main" id="{A2B8A0BD-2719-4ADE-BB57-CC0C41E52338}"/>
              </a:ext>
            </a:extLst>
          </p:cNvPr>
          <p:cNvSpPr>
            <a:spLocks noGrp="1"/>
          </p:cNvSpPr>
          <p:nvPr/>
        </p:nvSpPr>
        <p:spPr>
          <a:xfrm>
            <a:off x="7734300" y="33718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单频双极化通道</a:t>
            </a:r>
          </a:p>
        </p:txBody>
      </p:sp>
      <p:sp>
        <p:nvSpPr>
          <p:cNvPr id="18" name="metric-box">
            <a:extLst>
              <a:ext uri="{FF2B5EF4-FFF2-40B4-BE49-F238E27FC236}">
                <a16:creationId xmlns:a16="http://schemas.microsoft.com/office/drawing/2014/main" id="{BA113375-45A6-48AE-B011-7A7147E55CA9}"/>
              </a:ext>
            </a:extLst>
          </p:cNvPr>
          <p:cNvSpPr>
            <a:spLocks noGrp="1"/>
          </p:cNvSpPr>
          <p:nvPr/>
        </p:nvSpPr>
        <p:spPr>
          <a:xfrm>
            <a:off x="7524750" y="40005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9" name="metric-accent">
            <a:extLst>
              <a:ext uri="{FF2B5EF4-FFF2-40B4-BE49-F238E27FC236}">
                <a16:creationId xmlns:a16="http://schemas.microsoft.com/office/drawing/2014/main" id="{92D2308E-8247-4972-89D3-E9E30B21CB74}"/>
              </a:ext>
            </a:extLst>
          </p:cNvPr>
          <p:cNvSpPr>
            <a:spLocks noGrp="1"/>
          </p:cNvSpPr>
          <p:nvPr/>
        </p:nvSpPr>
        <p:spPr>
          <a:xfrm>
            <a:off x="7524750" y="4000500"/>
            <a:ext cx="57150" cy="914400"/>
          </a:xfrm>
          <a:prstGeom prst="rect">
            <a:avLst/>
          </a:prstGeom>
          <a:solidFill>
            <a:srgbClr val="B879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metric-value">
            <a:extLst>
              <a:ext uri="{FF2B5EF4-FFF2-40B4-BE49-F238E27FC236}">
                <a16:creationId xmlns:a16="http://schemas.microsoft.com/office/drawing/2014/main" id="{EF951960-43AE-4A02-97D6-B71DE770F28C}"/>
              </a:ext>
            </a:extLst>
          </p:cNvPr>
          <p:cNvSpPr>
            <a:spLocks noGrp="1"/>
          </p:cNvSpPr>
          <p:nvPr/>
        </p:nvSpPr>
        <p:spPr>
          <a:xfrm>
            <a:off x="7734300" y="4114800"/>
            <a:ext cx="2095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半球面</a:t>
            </a:r>
          </a:p>
        </p:txBody>
      </p:sp>
      <p:sp>
        <p:nvSpPr>
          <p:cNvPr id="21" name="metric-label">
            <a:extLst>
              <a:ext uri="{FF2B5EF4-FFF2-40B4-BE49-F238E27FC236}">
                <a16:creationId xmlns:a16="http://schemas.microsoft.com/office/drawing/2014/main" id="{C5BA48A8-E003-4FAF-910A-020042385C5B}"/>
              </a:ext>
            </a:extLst>
          </p:cNvPr>
          <p:cNvSpPr>
            <a:spLocks noGrp="1"/>
          </p:cNvSpPr>
          <p:nvPr/>
        </p:nvSpPr>
        <p:spPr>
          <a:xfrm>
            <a:off x="7734300" y="45148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执行路线</a:t>
            </a:r>
          </a:p>
        </p:txBody>
      </p:sp>
      <p:sp>
        <p:nvSpPr>
          <p:cNvPr id="22" name="note-box">
            <a:extLst>
              <a:ext uri="{FF2B5EF4-FFF2-40B4-BE49-F238E27FC236}">
                <a16:creationId xmlns:a16="http://schemas.microsoft.com/office/drawing/2014/main" id="{7A862BB3-E297-43F0-AAA9-8208623E679E}"/>
              </a:ext>
            </a:extLst>
          </p:cNvPr>
          <p:cNvSpPr>
            <a:spLocks noGrp="1"/>
          </p:cNvSpPr>
          <p:nvPr/>
        </p:nvSpPr>
        <p:spPr>
          <a:xfrm>
            <a:off x="7429500" y="5191125"/>
            <a:ext cx="3333750" cy="666750"/>
          </a:xfrm>
          <a:prstGeom prst="rect">
            <a:avLst/>
          </a:prstGeom>
          <a:solidFill>
            <a:srgbClr val="E7EEF6"/>
          </a:solidFill>
          <a:ln w="9525">
            <a:solidFill>
              <a:srgbClr val="E2D2B8"/>
            </a:solidFill>
            <a:prstDash val="solid"/>
          </a:ln>
        </p:spPr>
      </p:sp>
      <p:sp>
        <p:nvSpPr>
          <p:cNvPr id="23" name="note-text">
            <a:extLst>
              <a:ext uri="{FF2B5EF4-FFF2-40B4-BE49-F238E27FC236}">
                <a16:creationId xmlns:a16="http://schemas.microsoft.com/office/drawing/2014/main" id="{C9D13E19-DA9B-4876-A5ED-7F23762BE7C1}"/>
              </a:ext>
            </a:extLst>
          </p:cNvPr>
          <p:cNvSpPr>
            <a:spLocks noGrp="1"/>
          </p:cNvSpPr>
          <p:nvPr/>
        </p:nvSpPr>
        <p:spPr>
          <a:xfrm>
            <a:off x="7600950" y="5286375"/>
            <a:ext cx="2990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半柱面保留为后续工程扩展；本轮 CST Level 1/2 与所有审计均以半球面测点表为准。</a:t>
            </a:r>
          </a:p>
        </p:txBody>
      </p:sp>
    </p:spTree>
    <p:extLst>
      <p:ext uri="{BB962C8B-B14F-4D97-AF65-F5344CB8AC3E}">
        <p14:creationId xmlns:p14="http://schemas.microsoft.com/office/powerpoint/2010/main" val="375936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3000"/>
    </mc:Choice>
    <mc:Fallback>
      <p:transition spd="slow" advClick="0" advTm="1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bg">
            <a:extLst>
              <a:ext uri="{FF2B5EF4-FFF2-40B4-BE49-F238E27FC236}">
                <a16:creationId xmlns:a16="http://schemas.microsoft.com/office/drawing/2014/main" id="{9708F02D-B10A-45FD-89E8-A9696E55E8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18005F73-F899-4438-9F26-6A3ECA099F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E7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93A036DD-FD9F-4351-A070-DCD1B6E92F32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76200" cy="76200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DC74B1F4-E907-476F-95AC-D2CC7B7A6CBA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LEVEL 1 标准源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FBDA2263-F1B7-4987-BBF1-58ACEC52F569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7810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FarfieldPlot-derived 角域样本与 CST 远场真值高度一致</a:t>
            </a:r>
          </a:p>
        </p:txBody>
      </p:sp>
      <p:sp>
        <p:nvSpPr>
          <p:cNvPr id="6" name="page-marker">
            <a:extLst>
              <a:ext uri="{FF2B5EF4-FFF2-40B4-BE49-F238E27FC236}">
                <a16:creationId xmlns:a16="http://schemas.microsoft.com/office/drawing/2014/main" id="{DA2F433E-DBB1-4A67-9D16-E7F65D016623}"/>
              </a:ext>
            </a:extLst>
          </p:cNvPr>
          <p:cNvSpPr>
            <a:spLocks noGrp="1"/>
          </p:cNvSpPr>
          <p:nvPr/>
        </p:nvSpPr>
        <p:spPr>
          <a:xfrm>
            <a:off x="11239500" y="61150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8948A770-6CE0-4D16-9B36-367A76B64769}"/>
              </a:ext>
            </a:extLst>
          </p:cNvPr>
          <p:cNvSpPr>
            <a:spLocks noGrp="1"/>
          </p:cNvSpPr>
          <p:nvPr/>
        </p:nvSpPr>
        <p:spPr>
          <a:xfrm>
            <a:off x="552450" y="613410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image-frame">
            <a:extLst>
              <a:ext uri="{FF2B5EF4-FFF2-40B4-BE49-F238E27FC236}">
                <a16:creationId xmlns:a16="http://schemas.microsoft.com/office/drawing/2014/main" id="{C5238D72-D7F5-4AA7-8928-2EDCB332031A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626745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CCD5DF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2390580"/>
            <a:ext cx="6191250" cy="1943490"/>
          </a:xfrm>
          <a:prstGeom prst="rect">
            <a:avLst/>
          </a:prstGeom>
        </p:spPr>
      </p:pic>
      <p:sp>
        <p:nvSpPr>
          <p:cNvPr id="10" name="metric-box">
            <a:extLst>
              <a:ext uri="{FF2B5EF4-FFF2-40B4-BE49-F238E27FC236}">
                <a16:creationId xmlns:a16="http://schemas.microsoft.com/office/drawing/2014/main" id="{E53474E5-8EA0-4F01-9422-2E79A21A3E69}"/>
              </a:ext>
            </a:extLst>
          </p:cNvPr>
          <p:cNvSpPr>
            <a:spLocks noGrp="1"/>
          </p:cNvSpPr>
          <p:nvPr/>
        </p:nvSpPr>
        <p:spPr>
          <a:xfrm>
            <a:off x="7429500" y="1638300"/>
            <a:ext cx="2571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1" name="metric-accent">
            <a:extLst>
              <a:ext uri="{FF2B5EF4-FFF2-40B4-BE49-F238E27FC236}">
                <a16:creationId xmlns:a16="http://schemas.microsoft.com/office/drawing/2014/main" id="{7B4256D5-3C0B-4E26-85ED-5C02207C76A3}"/>
              </a:ext>
            </a:extLst>
          </p:cNvPr>
          <p:cNvSpPr>
            <a:spLocks noGrp="1"/>
          </p:cNvSpPr>
          <p:nvPr/>
        </p:nvSpPr>
        <p:spPr>
          <a:xfrm>
            <a:off x="7429500" y="1638300"/>
            <a:ext cx="57150" cy="914400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etric-value">
            <a:extLst>
              <a:ext uri="{FF2B5EF4-FFF2-40B4-BE49-F238E27FC236}">
                <a16:creationId xmlns:a16="http://schemas.microsoft.com/office/drawing/2014/main" id="{58D9024B-D263-411E-BF14-33099691D42A}"/>
              </a:ext>
            </a:extLst>
          </p:cNvPr>
          <p:cNvSpPr>
            <a:spLocks noGrp="1"/>
          </p:cNvSpPr>
          <p:nvPr/>
        </p:nvSpPr>
        <p:spPr>
          <a:xfrm>
            <a:off x="7639050" y="175260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8.41e-05</a:t>
            </a:r>
          </a:p>
        </p:txBody>
      </p:sp>
      <p:sp>
        <p:nvSpPr>
          <p:cNvPr id="13" name="metric-label">
            <a:extLst>
              <a:ext uri="{FF2B5EF4-FFF2-40B4-BE49-F238E27FC236}">
                <a16:creationId xmlns:a16="http://schemas.microsoft.com/office/drawing/2014/main" id="{C9A35768-32C0-43F4-A779-9939879123A8}"/>
              </a:ext>
            </a:extLst>
          </p:cNvPr>
          <p:cNvSpPr>
            <a:spLocks noGrp="1"/>
          </p:cNvSpPr>
          <p:nvPr/>
        </p:nvSpPr>
        <p:spPr>
          <a:xfrm>
            <a:off x="7639050" y="21526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max NMSE</a:t>
            </a:r>
          </a:p>
        </p:txBody>
      </p:sp>
      <p:sp>
        <p:nvSpPr>
          <p:cNvPr id="14" name="metric-box">
            <a:extLst>
              <a:ext uri="{FF2B5EF4-FFF2-40B4-BE49-F238E27FC236}">
                <a16:creationId xmlns:a16="http://schemas.microsoft.com/office/drawing/2014/main" id="{DA7F8D05-BC72-4AB1-9021-99AF5BE85B0D}"/>
              </a:ext>
            </a:extLst>
          </p:cNvPr>
          <p:cNvSpPr>
            <a:spLocks noGrp="1"/>
          </p:cNvSpPr>
          <p:nvPr/>
        </p:nvSpPr>
        <p:spPr>
          <a:xfrm>
            <a:off x="7429500" y="2781300"/>
            <a:ext cx="2571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5" name="metric-accent">
            <a:extLst>
              <a:ext uri="{FF2B5EF4-FFF2-40B4-BE49-F238E27FC236}">
                <a16:creationId xmlns:a16="http://schemas.microsoft.com/office/drawing/2014/main" id="{EA85CC23-B99F-4A56-8D3A-47E3A57922A9}"/>
              </a:ext>
            </a:extLst>
          </p:cNvPr>
          <p:cNvSpPr>
            <a:spLocks noGrp="1"/>
          </p:cNvSpPr>
          <p:nvPr/>
        </p:nvSpPr>
        <p:spPr>
          <a:xfrm>
            <a:off x="7429500" y="2781300"/>
            <a:ext cx="57150" cy="914400"/>
          </a:xfrm>
          <a:prstGeom prst="rect">
            <a:avLst/>
          </a:prstGeom>
          <a:solidFill>
            <a:srgbClr val="2E7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metric-value">
            <a:extLst>
              <a:ext uri="{FF2B5EF4-FFF2-40B4-BE49-F238E27FC236}">
                <a16:creationId xmlns:a16="http://schemas.microsoft.com/office/drawing/2014/main" id="{0A305147-6C77-4578-8F21-18C261FD0619}"/>
              </a:ext>
            </a:extLst>
          </p:cNvPr>
          <p:cNvSpPr>
            <a:spLocks noGrp="1"/>
          </p:cNvSpPr>
          <p:nvPr/>
        </p:nvSpPr>
        <p:spPr>
          <a:xfrm>
            <a:off x="7639050" y="289560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0.99988</a:t>
            </a:r>
          </a:p>
        </p:txBody>
      </p:sp>
      <p:sp>
        <p:nvSpPr>
          <p:cNvPr id="17" name="metric-label">
            <a:extLst>
              <a:ext uri="{FF2B5EF4-FFF2-40B4-BE49-F238E27FC236}">
                <a16:creationId xmlns:a16="http://schemas.microsoft.com/office/drawing/2014/main" id="{E7B7B9E0-B778-4D4E-A0DC-708005FE8B3E}"/>
              </a:ext>
            </a:extLst>
          </p:cNvPr>
          <p:cNvSpPr>
            <a:spLocks noGrp="1"/>
          </p:cNvSpPr>
          <p:nvPr/>
        </p:nvSpPr>
        <p:spPr>
          <a:xfrm>
            <a:off x="7639050" y="32956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min corr</a:t>
            </a:r>
          </a:p>
        </p:txBody>
      </p:sp>
      <p:sp>
        <p:nvSpPr>
          <p:cNvPr id="18" name="metric-box">
            <a:extLst>
              <a:ext uri="{FF2B5EF4-FFF2-40B4-BE49-F238E27FC236}">
                <a16:creationId xmlns:a16="http://schemas.microsoft.com/office/drawing/2014/main" id="{0A4D0744-ABC6-452B-9573-CB556EC26462}"/>
              </a:ext>
            </a:extLst>
          </p:cNvPr>
          <p:cNvSpPr>
            <a:spLocks noGrp="1"/>
          </p:cNvSpPr>
          <p:nvPr/>
        </p:nvSpPr>
        <p:spPr>
          <a:xfrm>
            <a:off x="7429500" y="3924300"/>
            <a:ext cx="2571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9" name="metric-accent">
            <a:extLst>
              <a:ext uri="{FF2B5EF4-FFF2-40B4-BE49-F238E27FC236}">
                <a16:creationId xmlns:a16="http://schemas.microsoft.com/office/drawing/2014/main" id="{7CC18431-59B0-4FDC-9C5E-A8B27A3BFBF2}"/>
              </a:ext>
            </a:extLst>
          </p:cNvPr>
          <p:cNvSpPr>
            <a:spLocks noGrp="1"/>
          </p:cNvSpPr>
          <p:nvPr/>
        </p:nvSpPr>
        <p:spPr>
          <a:xfrm>
            <a:off x="7429500" y="3924300"/>
            <a:ext cx="57150" cy="914400"/>
          </a:xfrm>
          <a:prstGeom prst="rect">
            <a:avLst/>
          </a:prstGeom>
          <a:solidFill>
            <a:srgbClr val="B879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metric-value">
            <a:extLst>
              <a:ext uri="{FF2B5EF4-FFF2-40B4-BE49-F238E27FC236}">
                <a16:creationId xmlns:a16="http://schemas.microsoft.com/office/drawing/2014/main" id="{7E7714C5-174E-4BFF-9D1F-3543E5E1D651}"/>
              </a:ext>
            </a:extLst>
          </p:cNvPr>
          <p:cNvSpPr>
            <a:spLocks noGrp="1"/>
          </p:cNvSpPr>
          <p:nvPr/>
        </p:nvSpPr>
        <p:spPr>
          <a:xfrm>
            <a:off x="7639050" y="403860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0.00°</a:t>
            </a:r>
          </a:p>
        </p:txBody>
      </p:sp>
      <p:sp>
        <p:nvSpPr>
          <p:cNvPr id="21" name="metric-label">
            <a:extLst>
              <a:ext uri="{FF2B5EF4-FFF2-40B4-BE49-F238E27FC236}">
                <a16:creationId xmlns:a16="http://schemas.microsoft.com/office/drawing/2014/main" id="{75A1628D-1C2D-4F3F-9E50-31F5D630D9A6}"/>
              </a:ext>
            </a:extLst>
          </p:cNvPr>
          <p:cNvSpPr>
            <a:spLocks noGrp="1"/>
          </p:cNvSpPr>
          <p:nvPr/>
        </p:nvSpPr>
        <p:spPr>
          <a:xfrm>
            <a:off x="7639050" y="44386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主瓣误差</a:t>
            </a:r>
          </a:p>
        </p:txBody>
      </p:sp>
      <p:sp>
        <p:nvSpPr>
          <p:cNvPr id="22" name="note-box">
            <a:extLst>
              <a:ext uri="{FF2B5EF4-FFF2-40B4-BE49-F238E27FC236}">
                <a16:creationId xmlns:a16="http://schemas.microsoft.com/office/drawing/2014/main" id="{31A626EA-00C4-4362-B94E-9C0319A58F06}"/>
              </a:ext>
            </a:extLst>
          </p:cNvPr>
          <p:cNvSpPr>
            <a:spLocks noGrp="1"/>
          </p:cNvSpPr>
          <p:nvPr/>
        </p:nvSpPr>
        <p:spPr>
          <a:xfrm>
            <a:off x="7239000" y="5219700"/>
            <a:ext cx="3714750" cy="666750"/>
          </a:xfrm>
          <a:prstGeom prst="rect">
            <a:avLst/>
          </a:prstGeom>
          <a:solidFill>
            <a:srgbClr val="F7EBD8"/>
          </a:solidFill>
          <a:ln w="9525">
            <a:solidFill>
              <a:srgbClr val="E2D2B8"/>
            </a:solidFill>
            <a:prstDash val="solid"/>
          </a:ln>
        </p:spPr>
      </p:sp>
      <p:sp>
        <p:nvSpPr>
          <p:cNvPr id="23" name="note-text">
            <a:extLst>
              <a:ext uri="{FF2B5EF4-FFF2-40B4-BE49-F238E27FC236}">
                <a16:creationId xmlns:a16="http://schemas.microsoft.com/office/drawing/2014/main" id="{1AF90406-BDD1-45FD-B6C7-FDF2CA9EFE81}"/>
              </a:ext>
            </a:extLst>
          </p:cNvPr>
          <p:cNvSpPr>
            <a:spLocks noGrp="1"/>
          </p:cNvSpPr>
          <p:nvPr/>
        </p:nvSpPr>
        <p:spPr>
          <a:xfrm>
            <a:off x="7410450" y="5314950"/>
            <a:ext cx="3371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边界：该通道证明 solver-safe 角域一致性；full-wave near-field monitor 等效源反演仍作为模型风险说明。</a:t>
            </a:r>
          </a:p>
        </p:txBody>
      </p:sp>
    </p:spTree>
    <p:extLst>
      <p:ext uri="{BB962C8B-B14F-4D97-AF65-F5344CB8AC3E}">
        <p14:creationId xmlns:p14="http://schemas.microsoft.com/office/powerpoint/2010/main" val="2132774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7000"/>
    </mc:Choice>
    <mc:Fallback>
      <p:transition spd="slow" advClick="0" advTm="17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-bg">
            <a:extLst>
              <a:ext uri="{FF2B5EF4-FFF2-40B4-BE49-F238E27FC236}">
                <a16:creationId xmlns:a16="http://schemas.microsoft.com/office/drawing/2014/main" id="{F160FBFD-0DD9-409B-8717-AC1B9103BB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790E648A-D2F4-48C8-8D9E-B83A28399D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E7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99F33A31-3095-429D-912D-AF869FE621C4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76200" cy="76200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0F0A019D-98EA-4AD1-9046-B455FC603C74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重建算法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4A930047-1AAB-4C42-A692-EB450D7F565C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7810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把有限半球面观测转成可外推的等效源，再由正则化控制病态反演</a:t>
            </a:r>
          </a:p>
        </p:txBody>
      </p:sp>
      <p:sp>
        <p:nvSpPr>
          <p:cNvPr id="6" name="page-marker">
            <a:extLst>
              <a:ext uri="{FF2B5EF4-FFF2-40B4-BE49-F238E27FC236}">
                <a16:creationId xmlns:a16="http://schemas.microsoft.com/office/drawing/2014/main" id="{FDB0EA0F-5709-4F6B-98A3-2A0E8D943B35}"/>
              </a:ext>
            </a:extLst>
          </p:cNvPr>
          <p:cNvSpPr>
            <a:spLocks noGrp="1"/>
          </p:cNvSpPr>
          <p:nvPr/>
        </p:nvSpPr>
        <p:spPr>
          <a:xfrm>
            <a:off x="11239500" y="61150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85692E31-1EF9-48F9-B65C-29253C1A3885}"/>
              </a:ext>
            </a:extLst>
          </p:cNvPr>
          <p:cNvSpPr>
            <a:spLocks noGrp="1"/>
          </p:cNvSpPr>
          <p:nvPr/>
        </p:nvSpPr>
        <p:spPr>
          <a:xfrm>
            <a:off x="552450" y="613410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642C67D-BE7B-4947-B954-64F2727F9D3E}"/>
              </a:ext>
            </a:extLst>
          </p:cNvPr>
          <p:cNvSpPr>
            <a:spLocks noGrp="1"/>
          </p:cNvSpPr>
          <p:nvPr/>
        </p:nvSpPr>
        <p:spPr>
          <a:xfrm>
            <a:off x="1190625" y="1695450"/>
            <a:ext cx="4476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0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E_meas = G_nf · J + 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125E0C-936E-4C8A-8E81-17BEFEF8EE8A}"/>
              </a:ext>
            </a:extLst>
          </p:cNvPr>
          <p:cNvSpPr>
            <a:spLocks noGrp="1"/>
          </p:cNvSpPr>
          <p:nvPr/>
        </p:nvSpPr>
        <p:spPr>
          <a:xfrm>
            <a:off x="1190625" y="2457450"/>
            <a:ext cx="5905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rPr>
              <a:t>J* = argmin ||G_nf J - E||² + λ ||J||²</a:t>
            </a:r>
          </a:p>
        </p:txBody>
      </p:sp>
      <p:sp>
        <p:nvSpPr>
          <p:cNvPr id="10" name="table-cell">
            <a:extLst>
              <a:ext uri="{FF2B5EF4-FFF2-40B4-BE49-F238E27FC236}">
                <a16:creationId xmlns:a16="http://schemas.microsoft.com/office/drawing/2014/main" id="{6C80DDA5-DF4D-40E5-9D02-F06617069E67}"/>
              </a:ext>
            </a:extLst>
          </p:cNvPr>
          <p:cNvSpPr>
            <a:spLocks noGrp="1"/>
          </p:cNvSpPr>
          <p:nvPr/>
        </p:nvSpPr>
        <p:spPr>
          <a:xfrm>
            <a:off x="1476375" y="3667125"/>
            <a:ext cx="1619250" cy="514350"/>
          </a:xfrm>
          <a:prstGeom prst="rect">
            <a:avLst/>
          </a:prstGeom>
          <a:solidFill>
            <a:srgbClr val="E7EEF6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1" name="table-text">
            <a:extLst>
              <a:ext uri="{FF2B5EF4-FFF2-40B4-BE49-F238E27FC236}">
                <a16:creationId xmlns:a16="http://schemas.microsoft.com/office/drawing/2014/main" id="{C7F62841-CD33-41B5-B1DB-5CA5494F8D32}"/>
              </a:ext>
            </a:extLst>
          </p:cNvPr>
          <p:cNvSpPr>
            <a:spLocks noGrp="1"/>
          </p:cNvSpPr>
          <p:nvPr/>
        </p:nvSpPr>
        <p:spPr>
          <a:xfrm>
            <a:off x="1552575" y="3743325"/>
            <a:ext cx="1466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2" name="table-cell">
            <a:extLst>
              <a:ext uri="{FF2B5EF4-FFF2-40B4-BE49-F238E27FC236}">
                <a16:creationId xmlns:a16="http://schemas.microsoft.com/office/drawing/2014/main" id="{78869B0C-65AB-491D-9287-09DCABD10CDE}"/>
              </a:ext>
            </a:extLst>
          </p:cNvPr>
          <p:cNvSpPr>
            <a:spLocks noGrp="1"/>
          </p:cNvSpPr>
          <p:nvPr/>
        </p:nvSpPr>
        <p:spPr>
          <a:xfrm>
            <a:off x="3095625" y="3667125"/>
            <a:ext cx="6572250" cy="514350"/>
          </a:xfrm>
          <a:prstGeom prst="rect">
            <a:avLst/>
          </a:prstGeom>
          <a:solidFill>
            <a:srgbClr val="E7EEF6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3" name="table-text">
            <a:extLst>
              <a:ext uri="{FF2B5EF4-FFF2-40B4-BE49-F238E27FC236}">
                <a16:creationId xmlns:a16="http://schemas.microsoft.com/office/drawing/2014/main" id="{50BD326D-BB90-47F7-A532-B790CCB2E1B0}"/>
              </a:ext>
            </a:extLst>
          </p:cNvPr>
          <p:cNvSpPr>
            <a:spLocks noGrp="1"/>
          </p:cNvSpPr>
          <p:nvPr/>
        </p:nvSpPr>
        <p:spPr>
          <a:xfrm>
            <a:off x="3171825" y="3743325"/>
            <a:ext cx="6419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半球面 Ex/Ey/Ez 复数场</a:t>
            </a:r>
          </a:p>
        </p:txBody>
      </p:sp>
      <p:sp>
        <p:nvSpPr>
          <p:cNvPr id="14" name="table-cell">
            <a:extLst>
              <a:ext uri="{FF2B5EF4-FFF2-40B4-BE49-F238E27FC236}">
                <a16:creationId xmlns:a16="http://schemas.microsoft.com/office/drawing/2014/main" id="{9566FF76-25C9-4193-861E-A52891D7DD11}"/>
              </a:ext>
            </a:extLst>
          </p:cNvPr>
          <p:cNvSpPr>
            <a:spLocks noGrp="1"/>
          </p:cNvSpPr>
          <p:nvPr/>
        </p:nvSpPr>
        <p:spPr>
          <a:xfrm>
            <a:off x="1476375" y="4181475"/>
            <a:ext cx="1619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5" name="table-text">
            <a:extLst>
              <a:ext uri="{FF2B5EF4-FFF2-40B4-BE49-F238E27FC236}">
                <a16:creationId xmlns:a16="http://schemas.microsoft.com/office/drawing/2014/main" id="{DCC022C8-EE8F-40BC-97E6-0DC0940925E3}"/>
              </a:ext>
            </a:extLst>
          </p:cNvPr>
          <p:cNvSpPr>
            <a:spLocks noGrp="1"/>
          </p:cNvSpPr>
          <p:nvPr/>
        </p:nvSpPr>
        <p:spPr>
          <a:xfrm>
            <a:off x="1552575" y="4257675"/>
            <a:ext cx="1466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求解</a:t>
            </a:r>
          </a:p>
        </p:txBody>
      </p:sp>
      <p:sp>
        <p:nvSpPr>
          <p:cNvPr id="16" name="table-cell">
            <a:extLst>
              <a:ext uri="{FF2B5EF4-FFF2-40B4-BE49-F238E27FC236}">
                <a16:creationId xmlns:a16="http://schemas.microsoft.com/office/drawing/2014/main" id="{D86EAE4C-7F5E-41D4-8758-2FB4E3F20E89}"/>
              </a:ext>
            </a:extLst>
          </p:cNvPr>
          <p:cNvSpPr>
            <a:spLocks noGrp="1"/>
          </p:cNvSpPr>
          <p:nvPr/>
        </p:nvSpPr>
        <p:spPr>
          <a:xfrm>
            <a:off x="3095625" y="4181475"/>
            <a:ext cx="6572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7" name="table-text">
            <a:extLst>
              <a:ext uri="{FF2B5EF4-FFF2-40B4-BE49-F238E27FC236}">
                <a16:creationId xmlns:a16="http://schemas.microsoft.com/office/drawing/2014/main" id="{3F24B438-17F2-4F92-9DCA-CC5C07F3A1A8}"/>
              </a:ext>
            </a:extLst>
          </p:cNvPr>
          <p:cNvSpPr>
            <a:spLocks noGrp="1"/>
          </p:cNvSpPr>
          <p:nvPr/>
        </p:nvSpPr>
        <p:spPr>
          <a:xfrm>
            <a:off x="3171825" y="4257675"/>
            <a:ext cx="6419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Tikhonov/SVD 稳定反演</a:t>
            </a:r>
          </a:p>
        </p:txBody>
      </p:sp>
      <p:sp>
        <p:nvSpPr>
          <p:cNvPr id="18" name="table-cell">
            <a:extLst>
              <a:ext uri="{FF2B5EF4-FFF2-40B4-BE49-F238E27FC236}">
                <a16:creationId xmlns:a16="http://schemas.microsoft.com/office/drawing/2014/main" id="{3A092396-B685-4A94-8D87-32552EFFB12F}"/>
              </a:ext>
            </a:extLst>
          </p:cNvPr>
          <p:cNvSpPr>
            <a:spLocks noGrp="1"/>
          </p:cNvSpPr>
          <p:nvPr/>
        </p:nvSpPr>
        <p:spPr>
          <a:xfrm>
            <a:off x="1476375" y="4695825"/>
            <a:ext cx="1619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9" name="table-text">
            <a:extLst>
              <a:ext uri="{FF2B5EF4-FFF2-40B4-BE49-F238E27FC236}">
                <a16:creationId xmlns:a16="http://schemas.microsoft.com/office/drawing/2014/main" id="{A4DCCE99-935B-4D97-B25A-89D483AF1087}"/>
              </a:ext>
            </a:extLst>
          </p:cNvPr>
          <p:cNvSpPr>
            <a:spLocks noGrp="1"/>
          </p:cNvSpPr>
          <p:nvPr/>
        </p:nvSpPr>
        <p:spPr>
          <a:xfrm>
            <a:off x="1552575" y="4772025"/>
            <a:ext cx="1466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0" name="table-cell">
            <a:extLst>
              <a:ext uri="{FF2B5EF4-FFF2-40B4-BE49-F238E27FC236}">
                <a16:creationId xmlns:a16="http://schemas.microsoft.com/office/drawing/2014/main" id="{AF33915A-BC96-4561-8193-241971B86FDE}"/>
              </a:ext>
            </a:extLst>
          </p:cNvPr>
          <p:cNvSpPr>
            <a:spLocks noGrp="1"/>
          </p:cNvSpPr>
          <p:nvPr/>
        </p:nvSpPr>
        <p:spPr>
          <a:xfrm>
            <a:off x="3095625" y="4695825"/>
            <a:ext cx="6572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1" name="table-text">
            <a:extLst>
              <a:ext uri="{FF2B5EF4-FFF2-40B4-BE49-F238E27FC236}">
                <a16:creationId xmlns:a16="http://schemas.microsoft.com/office/drawing/2014/main" id="{E07DF12B-809D-4AE6-9085-03F7676A4C25}"/>
              </a:ext>
            </a:extLst>
          </p:cNvPr>
          <p:cNvSpPr>
            <a:spLocks noGrp="1"/>
          </p:cNvSpPr>
          <p:nvPr/>
        </p:nvSpPr>
        <p:spPr>
          <a:xfrm>
            <a:off x="3171825" y="4772025"/>
            <a:ext cx="6419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远场方向图与主瓣/相关系数/NMSE</a:t>
            </a:r>
          </a:p>
        </p:txBody>
      </p:sp>
      <p:sp>
        <p:nvSpPr>
          <p:cNvPr id="22" name="table-cell">
            <a:extLst>
              <a:ext uri="{FF2B5EF4-FFF2-40B4-BE49-F238E27FC236}">
                <a16:creationId xmlns:a16="http://schemas.microsoft.com/office/drawing/2014/main" id="{35596E77-1EBD-4257-8813-92AE4AC525F1}"/>
              </a:ext>
            </a:extLst>
          </p:cNvPr>
          <p:cNvSpPr>
            <a:spLocks noGrp="1"/>
          </p:cNvSpPr>
          <p:nvPr/>
        </p:nvSpPr>
        <p:spPr>
          <a:xfrm>
            <a:off x="1476375" y="5210175"/>
            <a:ext cx="1619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3" name="table-text">
            <a:extLst>
              <a:ext uri="{FF2B5EF4-FFF2-40B4-BE49-F238E27FC236}">
                <a16:creationId xmlns:a16="http://schemas.microsoft.com/office/drawing/2014/main" id="{E2C66C39-D26E-4B40-BFE5-0FF11A64C008}"/>
              </a:ext>
            </a:extLst>
          </p:cNvPr>
          <p:cNvSpPr>
            <a:spLocks noGrp="1"/>
          </p:cNvSpPr>
          <p:nvPr/>
        </p:nvSpPr>
        <p:spPr>
          <a:xfrm>
            <a:off x="1552575" y="5286375"/>
            <a:ext cx="1466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24" name="table-cell">
            <a:extLst>
              <a:ext uri="{FF2B5EF4-FFF2-40B4-BE49-F238E27FC236}">
                <a16:creationId xmlns:a16="http://schemas.microsoft.com/office/drawing/2014/main" id="{D742D8B8-A252-44D9-84D6-E31CFABDA763}"/>
              </a:ext>
            </a:extLst>
          </p:cNvPr>
          <p:cNvSpPr>
            <a:spLocks noGrp="1"/>
          </p:cNvSpPr>
          <p:nvPr/>
        </p:nvSpPr>
        <p:spPr>
          <a:xfrm>
            <a:off x="3095625" y="5210175"/>
            <a:ext cx="6572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5" name="table-text">
            <a:extLst>
              <a:ext uri="{FF2B5EF4-FFF2-40B4-BE49-F238E27FC236}">
                <a16:creationId xmlns:a16="http://schemas.microsoft.com/office/drawing/2014/main" id="{9A4458EB-6494-4088-8454-BF282648DA25}"/>
              </a:ext>
            </a:extLst>
          </p:cNvPr>
          <p:cNvSpPr>
            <a:spLocks noGrp="1"/>
          </p:cNvSpPr>
          <p:nvPr/>
        </p:nvSpPr>
        <p:spPr>
          <a:xfrm>
            <a:off x="3171825" y="5286375"/>
            <a:ext cx="6419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FarfieldPlot 角域样本不直接等同 full-wave 近场 monitor</a:t>
            </a:r>
          </a:p>
        </p:txBody>
      </p:sp>
    </p:spTree>
    <p:extLst>
      <p:ext uri="{BB962C8B-B14F-4D97-AF65-F5344CB8AC3E}">
        <p14:creationId xmlns:p14="http://schemas.microsoft.com/office/powerpoint/2010/main" val="415008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5000"/>
    </mc:Choice>
    <mc:Fallback>
      <p:transition spd="slow" advClick="0" advTm="1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bg">
            <a:extLst>
              <a:ext uri="{FF2B5EF4-FFF2-40B4-BE49-F238E27FC236}">
                <a16:creationId xmlns:a16="http://schemas.microsoft.com/office/drawing/2014/main" id="{7E20DA9D-B89A-469B-9144-7183FF2550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442E4ADC-46FD-4C09-85D3-542582EA02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E7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69C030D9-2931-40F4-9B1E-E6FB0D814395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76200" cy="76200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977E64B7-D752-4801-965B-AD15A7042E9B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少测点优化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F0C8937F-1B43-4E99-81BD-86CAD55F7B46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7810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合成鲁棒性扫描显示 75% 测点更稳，50% 可作为压缩候选</a:t>
            </a:r>
          </a:p>
        </p:txBody>
      </p:sp>
      <p:sp>
        <p:nvSpPr>
          <p:cNvPr id="6" name="page-marker">
            <a:extLst>
              <a:ext uri="{FF2B5EF4-FFF2-40B4-BE49-F238E27FC236}">
                <a16:creationId xmlns:a16="http://schemas.microsoft.com/office/drawing/2014/main" id="{B25ABAA0-B4F1-4281-82D3-716797C26233}"/>
              </a:ext>
            </a:extLst>
          </p:cNvPr>
          <p:cNvSpPr>
            <a:spLocks noGrp="1"/>
          </p:cNvSpPr>
          <p:nvPr/>
        </p:nvSpPr>
        <p:spPr>
          <a:xfrm>
            <a:off x="11239500" y="61150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7CDCF2B2-308A-4239-9CD3-9C6A8B18D6A5}"/>
              </a:ext>
            </a:extLst>
          </p:cNvPr>
          <p:cNvSpPr>
            <a:spLocks noGrp="1"/>
          </p:cNvSpPr>
          <p:nvPr/>
        </p:nvSpPr>
        <p:spPr>
          <a:xfrm>
            <a:off x="552450" y="613410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image-frame">
            <a:extLst>
              <a:ext uri="{FF2B5EF4-FFF2-40B4-BE49-F238E27FC236}">
                <a16:creationId xmlns:a16="http://schemas.microsoft.com/office/drawing/2014/main" id="{BDB574D3-0AD7-4763-838A-5405C4ED617E}"/>
              </a:ext>
            </a:extLst>
          </p:cNvPr>
          <p:cNvSpPr>
            <a:spLocks noGrp="1"/>
          </p:cNvSpPr>
          <p:nvPr/>
        </p:nvSpPr>
        <p:spPr>
          <a:xfrm>
            <a:off x="704850" y="1504950"/>
            <a:ext cx="6553200" cy="3790950"/>
          </a:xfrm>
          <a:prstGeom prst="rect">
            <a:avLst/>
          </a:prstGeom>
          <a:solidFill>
            <a:srgbClr val="FFFFFF"/>
          </a:solidFill>
          <a:ln w="9525">
            <a:solidFill>
              <a:srgbClr val="CCD5DF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" y="1543050"/>
            <a:ext cx="5715000" cy="3714750"/>
          </a:xfrm>
          <a:prstGeom prst="rect">
            <a:avLst/>
          </a:prstGeom>
        </p:spPr>
      </p:pic>
      <p:sp>
        <p:nvSpPr>
          <p:cNvPr id="10" name="bullet-dot">
            <a:extLst>
              <a:ext uri="{FF2B5EF4-FFF2-40B4-BE49-F238E27FC236}">
                <a16:creationId xmlns:a16="http://schemas.microsoft.com/office/drawing/2014/main" id="{801ABA6F-1740-45EC-B0A3-5E095D9545C5}"/>
              </a:ext>
            </a:extLst>
          </p:cNvPr>
          <p:cNvSpPr>
            <a:spLocks noGrp="1"/>
          </p:cNvSpPr>
          <p:nvPr/>
        </p:nvSpPr>
        <p:spPr>
          <a:xfrm>
            <a:off x="7620000" y="1885950"/>
            <a:ext cx="66675" cy="66675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bullet-text">
            <a:extLst>
              <a:ext uri="{FF2B5EF4-FFF2-40B4-BE49-F238E27FC236}">
                <a16:creationId xmlns:a16="http://schemas.microsoft.com/office/drawing/2014/main" id="{9FA939FF-61CF-4344-A690-D668B42E08A6}"/>
              </a:ext>
            </a:extLst>
          </p:cNvPr>
          <p:cNvSpPr>
            <a:spLocks noGrp="1"/>
          </p:cNvSpPr>
          <p:nvPr/>
        </p:nvSpPr>
        <p:spPr>
          <a:xfrm>
            <a:off x="7791450" y="1809750"/>
            <a:ext cx="29718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30 dB 下 optimized_75：NMSE≈1.13e-3，corr≈0.9983</a:t>
            </a:r>
          </a:p>
        </p:txBody>
      </p:sp>
      <p:sp>
        <p:nvSpPr>
          <p:cNvPr id="12" name="bullet-dot">
            <a:extLst>
              <a:ext uri="{FF2B5EF4-FFF2-40B4-BE49-F238E27FC236}">
                <a16:creationId xmlns:a16="http://schemas.microsoft.com/office/drawing/2014/main" id="{E9126F22-F11B-4A06-A799-6CDBA0B33E89}"/>
              </a:ext>
            </a:extLst>
          </p:cNvPr>
          <p:cNvSpPr>
            <a:spLocks noGrp="1"/>
          </p:cNvSpPr>
          <p:nvPr/>
        </p:nvSpPr>
        <p:spPr>
          <a:xfrm>
            <a:off x="7620000" y="2695575"/>
            <a:ext cx="66675" cy="66675"/>
          </a:xfrm>
          <a:prstGeom prst="rect">
            <a:avLst/>
          </a:prstGeom>
          <a:solidFill>
            <a:srgbClr val="B879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bullet-text">
            <a:extLst>
              <a:ext uri="{FF2B5EF4-FFF2-40B4-BE49-F238E27FC236}">
                <a16:creationId xmlns:a16="http://schemas.microsoft.com/office/drawing/2014/main" id="{14139094-0306-49D5-AF3E-94F580B5501B}"/>
              </a:ext>
            </a:extLst>
          </p:cNvPr>
          <p:cNvSpPr>
            <a:spLocks noGrp="1"/>
          </p:cNvSpPr>
          <p:nvPr/>
        </p:nvSpPr>
        <p:spPr>
          <a:xfrm>
            <a:off x="7791450" y="2619375"/>
            <a:ext cx="29718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optimized_50 相关性仍高，但主瓣定位需结合真实 CST 边界说明</a:t>
            </a:r>
          </a:p>
        </p:txBody>
      </p:sp>
      <p:sp>
        <p:nvSpPr>
          <p:cNvPr id="14" name="bullet-dot">
            <a:extLst>
              <a:ext uri="{FF2B5EF4-FFF2-40B4-BE49-F238E27FC236}">
                <a16:creationId xmlns:a16="http://schemas.microsoft.com/office/drawing/2014/main" id="{C0B44800-4130-406C-841C-07401BAF1308}"/>
              </a:ext>
            </a:extLst>
          </p:cNvPr>
          <p:cNvSpPr>
            <a:spLocks noGrp="1"/>
          </p:cNvSpPr>
          <p:nvPr/>
        </p:nvSpPr>
        <p:spPr>
          <a:xfrm>
            <a:off x="7620000" y="3695700"/>
            <a:ext cx="66675" cy="66675"/>
          </a:xfrm>
          <a:prstGeom prst="rect">
            <a:avLst/>
          </a:prstGeom>
          <a:solidFill>
            <a:srgbClr val="9B1C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bullet-text">
            <a:extLst>
              <a:ext uri="{FF2B5EF4-FFF2-40B4-BE49-F238E27FC236}">
                <a16:creationId xmlns:a16="http://schemas.microsoft.com/office/drawing/2014/main" id="{6A695831-1999-4D41-82DE-369ECD3DCFE9}"/>
              </a:ext>
            </a:extLst>
          </p:cNvPr>
          <p:cNvSpPr>
            <a:spLocks noGrp="1"/>
          </p:cNvSpPr>
          <p:nvPr/>
        </p:nvSpPr>
        <p:spPr>
          <a:xfrm>
            <a:off x="7791450" y="3619500"/>
            <a:ext cx="29718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25% 暂不作为主方案，只保留为极限对照</a:t>
            </a:r>
          </a:p>
        </p:txBody>
      </p:sp>
      <p:sp>
        <p:nvSpPr>
          <p:cNvPr id="16" name="note-box">
            <a:extLst>
              <a:ext uri="{FF2B5EF4-FFF2-40B4-BE49-F238E27FC236}">
                <a16:creationId xmlns:a16="http://schemas.microsoft.com/office/drawing/2014/main" id="{A3AD06F5-D30E-4BA8-B99B-CA123BECA4A1}"/>
              </a:ext>
            </a:extLst>
          </p:cNvPr>
          <p:cNvSpPr>
            <a:spLocks noGrp="1"/>
          </p:cNvSpPr>
          <p:nvPr/>
        </p:nvSpPr>
        <p:spPr>
          <a:xfrm>
            <a:off x="7524750" y="4905375"/>
            <a:ext cx="3429000" cy="590550"/>
          </a:xfrm>
          <a:prstGeom prst="rect">
            <a:avLst/>
          </a:prstGeom>
          <a:solidFill>
            <a:srgbClr val="E7EEF6"/>
          </a:solidFill>
          <a:ln w="9525">
            <a:solidFill>
              <a:srgbClr val="E2D2B8"/>
            </a:solidFill>
            <a:prstDash val="solid"/>
          </a:ln>
        </p:spPr>
      </p:sp>
      <p:sp>
        <p:nvSpPr>
          <p:cNvPr id="17" name="note-text">
            <a:extLst>
              <a:ext uri="{FF2B5EF4-FFF2-40B4-BE49-F238E27FC236}">
                <a16:creationId xmlns:a16="http://schemas.microsoft.com/office/drawing/2014/main" id="{D7871051-A0A2-4097-BEA3-9142C133748F}"/>
              </a:ext>
            </a:extLst>
          </p:cNvPr>
          <p:cNvSpPr>
            <a:spLocks noGrp="1"/>
          </p:cNvSpPr>
          <p:nvPr/>
        </p:nvSpPr>
        <p:spPr>
          <a:xfrm>
            <a:off x="7696200" y="5000625"/>
            <a:ext cx="3086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该页作为算法鲁棒性参考，不替代 Level 1 required 高精度证明。</a:t>
            </a:r>
          </a:p>
        </p:txBody>
      </p:sp>
    </p:spTree>
    <p:extLst>
      <p:ext uri="{BB962C8B-B14F-4D97-AF65-F5344CB8AC3E}">
        <p14:creationId xmlns:p14="http://schemas.microsoft.com/office/powerpoint/2010/main" val="1234551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5000"/>
    </mc:Choice>
    <mc:Fallback>
      <p:transition spd="slow" advClick="0" advTm="1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bg">
            <a:extLst>
              <a:ext uri="{FF2B5EF4-FFF2-40B4-BE49-F238E27FC236}">
                <a16:creationId xmlns:a16="http://schemas.microsoft.com/office/drawing/2014/main" id="{02998558-8039-4594-B0BB-7B36DE8E0D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0C9B0643-1392-43B5-BCA5-D5ED1D3445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E7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8B2D415D-CC25-4466-9A0E-929F2A39541A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76200" cy="76200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1B731FE3-A226-479F-907F-F9353A3BDDE7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LEVEL 2 多源识别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219E71D5-79E2-48E7-B8A4-F079E1D02AEB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7810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48 个 CST-derived 样本上，空-频-极化特征超过 85% 指标线</a:t>
            </a:r>
          </a:p>
        </p:txBody>
      </p:sp>
      <p:sp>
        <p:nvSpPr>
          <p:cNvPr id="6" name="page-marker">
            <a:extLst>
              <a:ext uri="{FF2B5EF4-FFF2-40B4-BE49-F238E27FC236}">
                <a16:creationId xmlns:a16="http://schemas.microsoft.com/office/drawing/2014/main" id="{A156BC77-F0CC-479F-993B-545F88279320}"/>
              </a:ext>
            </a:extLst>
          </p:cNvPr>
          <p:cNvSpPr>
            <a:spLocks noGrp="1"/>
          </p:cNvSpPr>
          <p:nvPr/>
        </p:nvSpPr>
        <p:spPr>
          <a:xfrm>
            <a:off x="11239500" y="61150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8BFC856F-D945-4544-A0F2-C5C1D0783F1E}"/>
              </a:ext>
            </a:extLst>
          </p:cNvPr>
          <p:cNvSpPr>
            <a:spLocks noGrp="1"/>
          </p:cNvSpPr>
          <p:nvPr/>
        </p:nvSpPr>
        <p:spPr>
          <a:xfrm>
            <a:off x="552450" y="613410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image-frame">
            <a:extLst>
              <a:ext uri="{FF2B5EF4-FFF2-40B4-BE49-F238E27FC236}">
                <a16:creationId xmlns:a16="http://schemas.microsoft.com/office/drawing/2014/main" id="{13AA2EDA-F390-4C33-BD2E-5266BE8C70A8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5124450" cy="417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CD5DF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5052" y="1428750"/>
            <a:ext cx="4943147" cy="4095750"/>
          </a:xfrm>
          <a:prstGeom prst="rect">
            <a:avLst/>
          </a:prstGeom>
        </p:spPr>
      </p:pic>
      <p:sp>
        <p:nvSpPr>
          <p:cNvPr id="10" name="metric-box">
            <a:extLst>
              <a:ext uri="{FF2B5EF4-FFF2-40B4-BE49-F238E27FC236}">
                <a16:creationId xmlns:a16="http://schemas.microsoft.com/office/drawing/2014/main" id="{58C0DCBB-70AD-4008-AC00-563DE45F744A}"/>
              </a:ext>
            </a:extLst>
          </p:cNvPr>
          <p:cNvSpPr>
            <a:spLocks noGrp="1"/>
          </p:cNvSpPr>
          <p:nvPr/>
        </p:nvSpPr>
        <p:spPr>
          <a:xfrm>
            <a:off x="6858000" y="1657350"/>
            <a:ext cx="2476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1" name="metric-accent">
            <a:extLst>
              <a:ext uri="{FF2B5EF4-FFF2-40B4-BE49-F238E27FC236}">
                <a16:creationId xmlns:a16="http://schemas.microsoft.com/office/drawing/2014/main" id="{977547E3-8726-4D49-AB69-CDAE9C9A19B1}"/>
              </a:ext>
            </a:extLst>
          </p:cNvPr>
          <p:cNvSpPr>
            <a:spLocks noGrp="1"/>
          </p:cNvSpPr>
          <p:nvPr/>
        </p:nvSpPr>
        <p:spPr>
          <a:xfrm>
            <a:off x="6858000" y="1657350"/>
            <a:ext cx="57150" cy="914400"/>
          </a:xfrm>
          <a:prstGeom prst="rect">
            <a:avLst/>
          </a:prstGeom>
          <a:solidFill>
            <a:srgbClr val="2E7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etric-value">
            <a:extLst>
              <a:ext uri="{FF2B5EF4-FFF2-40B4-BE49-F238E27FC236}">
                <a16:creationId xmlns:a16="http://schemas.microsoft.com/office/drawing/2014/main" id="{02BD1C83-6581-443C-9FD7-F3611D2083A9}"/>
              </a:ext>
            </a:extLst>
          </p:cNvPr>
          <p:cNvSpPr>
            <a:spLocks noGrp="1"/>
          </p:cNvSpPr>
          <p:nvPr/>
        </p:nvSpPr>
        <p:spPr>
          <a:xfrm>
            <a:off x="7067550" y="17716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48/48</a:t>
            </a:r>
          </a:p>
        </p:txBody>
      </p:sp>
      <p:sp>
        <p:nvSpPr>
          <p:cNvPr id="13" name="metric-label">
            <a:extLst>
              <a:ext uri="{FF2B5EF4-FFF2-40B4-BE49-F238E27FC236}">
                <a16:creationId xmlns:a16="http://schemas.microsoft.com/office/drawing/2014/main" id="{FE38E7C3-58AD-4FFB-8DCA-E2021B0663BA}"/>
              </a:ext>
            </a:extLst>
          </p:cNvPr>
          <p:cNvSpPr>
            <a:spLocks noGrp="1"/>
          </p:cNvSpPr>
          <p:nvPr/>
        </p:nvSpPr>
        <p:spPr>
          <a:xfrm>
            <a:off x="7067550" y="21717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样本完整度</a:t>
            </a:r>
          </a:p>
        </p:txBody>
      </p:sp>
      <p:sp>
        <p:nvSpPr>
          <p:cNvPr id="14" name="metric-box">
            <a:extLst>
              <a:ext uri="{FF2B5EF4-FFF2-40B4-BE49-F238E27FC236}">
                <a16:creationId xmlns:a16="http://schemas.microsoft.com/office/drawing/2014/main" id="{3402D764-B3A7-4001-B3D2-EC4C0F91E84E}"/>
              </a:ext>
            </a:extLst>
          </p:cNvPr>
          <p:cNvSpPr>
            <a:spLocks noGrp="1"/>
          </p:cNvSpPr>
          <p:nvPr/>
        </p:nvSpPr>
        <p:spPr>
          <a:xfrm>
            <a:off x="6858000" y="2800350"/>
            <a:ext cx="2476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5" name="metric-accent">
            <a:extLst>
              <a:ext uri="{FF2B5EF4-FFF2-40B4-BE49-F238E27FC236}">
                <a16:creationId xmlns:a16="http://schemas.microsoft.com/office/drawing/2014/main" id="{DFDF353F-2879-4CC4-A80E-090754C3C0BD}"/>
              </a:ext>
            </a:extLst>
          </p:cNvPr>
          <p:cNvSpPr>
            <a:spLocks noGrp="1"/>
          </p:cNvSpPr>
          <p:nvPr/>
        </p:nvSpPr>
        <p:spPr>
          <a:xfrm>
            <a:off x="6858000" y="2800350"/>
            <a:ext cx="57150" cy="914400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metric-value">
            <a:extLst>
              <a:ext uri="{FF2B5EF4-FFF2-40B4-BE49-F238E27FC236}">
                <a16:creationId xmlns:a16="http://schemas.microsoft.com/office/drawing/2014/main" id="{1593274A-2A7F-498B-A188-58F8E24FF027}"/>
              </a:ext>
            </a:extLst>
          </p:cNvPr>
          <p:cNvSpPr>
            <a:spLocks noGrp="1"/>
          </p:cNvSpPr>
          <p:nvPr/>
        </p:nvSpPr>
        <p:spPr>
          <a:xfrm>
            <a:off x="7067550" y="29146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4965</a:t>
            </a:r>
          </a:p>
        </p:txBody>
      </p:sp>
      <p:sp>
        <p:nvSpPr>
          <p:cNvPr id="17" name="metric-label">
            <a:extLst>
              <a:ext uri="{FF2B5EF4-FFF2-40B4-BE49-F238E27FC236}">
                <a16:creationId xmlns:a16="http://schemas.microsoft.com/office/drawing/2014/main" id="{3F15732C-6AB8-49AC-8665-1682C23C6A34}"/>
              </a:ext>
            </a:extLst>
          </p:cNvPr>
          <p:cNvSpPr>
            <a:spLocks noGrp="1"/>
          </p:cNvSpPr>
          <p:nvPr/>
        </p:nvSpPr>
        <p:spPr>
          <a:xfrm>
            <a:off x="7067550" y="33147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特征维度</a:t>
            </a:r>
          </a:p>
        </p:txBody>
      </p:sp>
      <p:sp>
        <p:nvSpPr>
          <p:cNvPr id="18" name="metric-box">
            <a:extLst>
              <a:ext uri="{FF2B5EF4-FFF2-40B4-BE49-F238E27FC236}">
                <a16:creationId xmlns:a16="http://schemas.microsoft.com/office/drawing/2014/main" id="{8EC3077F-DA67-4972-BF78-6EE3F24E9B60}"/>
              </a:ext>
            </a:extLst>
          </p:cNvPr>
          <p:cNvSpPr>
            <a:spLocks noGrp="1"/>
          </p:cNvSpPr>
          <p:nvPr/>
        </p:nvSpPr>
        <p:spPr>
          <a:xfrm>
            <a:off x="6858000" y="3943350"/>
            <a:ext cx="2476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9" name="metric-accent">
            <a:extLst>
              <a:ext uri="{FF2B5EF4-FFF2-40B4-BE49-F238E27FC236}">
                <a16:creationId xmlns:a16="http://schemas.microsoft.com/office/drawing/2014/main" id="{CD23696C-AE68-42AF-8D25-06E15D0AA4F4}"/>
              </a:ext>
            </a:extLst>
          </p:cNvPr>
          <p:cNvSpPr>
            <a:spLocks noGrp="1"/>
          </p:cNvSpPr>
          <p:nvPr/>
        </p:nvSpPr>
        <p:spPr>
          <a:xfrm>
            <a:off x="6858000" y="3943350"/>
            <a:ext cx="57150" cy="914400"/>
          </a:xfrm>
          <a:prstGeom prst="rect">
            <a:avLst/>
          </a:prstGeom>
          <a:solidFill>
            <a:srgbClr val="B879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metric-value">
            <a:extLst>
              <a:ext uri="{FF2B5EF4-FFF2-40B4-BE49-F238E27FC236}">
                <a16:creationId xmlns:a16="http://schemas.microsoft.com/office/drawing/2014/main" id="{F7C2C47F-5B79-4062-92FD-772B14540ABF}"/>
              </a:ext>
            </a:extLst>
          </p:cNvPr>
          <p:cNvSpPr>
            <a:spLocks noGrp="1"/>
          </p:cNvSpPr>
          <p:nvPr/>
        </p:nvSpPr>
        <p:spPr>
          <a:xfrm>
            <a:off x="7067550" y="40576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1.000</a:t>
            </a:r>
          </a:p>
        </p:txBody>
      </p:sp>
      <p:sp>
        <p:nvSpPr>
          <p:cNvPr id="21" name="metric-label">
            <a:extLst>
              <a:ext uri="{FF2B5EF4-FFF2-40B4-BE49-F238E27FC236}">
                <a16:creationId xmlns:a16="http://schemas.microsoft.com/office/drawing/2014/main" id="{4C358236-A0BF-47A3-8577-7CD413508F1D}"/>
              </a:ext>
            </a:extLst>
          </p:cNvPr>
          <p:cNvSpPr>
            <a:spLocks noGrp="1"/>
          </p:cNvSpPr>
          <p:nvPr/>
        </p:nvSpPr>
        <p:spPr>
          <a:xfrm>
            <a:off x="7067550" y="44577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SVM accuracy</a:t>
            </a:r>
          </a:p>
        </p:txBody>
      </p:sp>
      <p:sp>
        <p:nvSpPr>
          <p:cNvPr id="22" name="note-box">
            <a:extLst>
              <a:ext uri="{FF2B5EF4-FFF2-40B4-BE49-F238E27FC236}">
                <a16:creationId xmlns:a16="http://schemas.microsoft.com/office/drawing/2014/main" id="{6D736A3E-2218-4B51-8123-E06392760B8F}"/>
              </a:ext>
            </a:extLst>
          </p:cNvPr>
          <p:cNvSpPr>
            <a:spLocks noGrp="1"/>
          </p:cNvSpPr>
          <p:nvPr/>
        </p:nvSpPr>
        <p:spPr>
          <a:xfrm>
            <a:off x="6667500" y="5219700"/>
            <a:ext cx="4095750" cy="628650"/>
          </a:xfrm>
          <a:prstGeom prst="rect">
            <a:avLst/>
          </a:prstGeom>
          <a:solidFill>
            <a:srgbClr val="F7EBD8"/>
          </a:solidFill>
          <a:ln w="9525">
            <a:solidFill>
              <a:srgbClr val="E2D2B8"/>
            </a:solidFill>
            <a:prstDash val="solid"/>
          </a:ln>
        </p:spPr>
      </p:sp>
      <p:sp>
        <p:nvSpPr>
          <p:cNvPr id="23" name="note-text">
            <a:extLst>
              <a:ext uri="{FF2B5EF4-FFF2-40B4-BE49-F238E27FC236}">
                <a16:creationId xmlns:a16="http://schemas.microsoft.com/office/drawing/2014/main" id="{C0D0DA83-3EDF-4012-BB02-51FE96862A2E}"/>
              </a:ext>
            </a:extLst>
          </p:cNvPr>
          <p:cNvSpPr>
            <a:spLocks noGrp="1"/>
          </p:cNvSpPr>
          <p:nvPr/>
        </p:nvSpPr>
        <p:spPr>
          <a:xfrm>
            <a:off x="6838950" y="5314950"/>
            <a:ext cx="37528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证据性质：CST-derived element-library superposition；结构影响由下一页 bounded 对照约束。</a:t>
            </a:r>
          </a:p>
        </p:txBody>
      </p:sp>
    </p:spTree>
    <p:extLst>
      <p:ext uri="{BB962C8B-B14F-4D97-AF65-F5344CB8AC3E}">
        <p14:creationId xmlns:p14="http://schemas.microsoft.com/office/powerpoint/2010/main" val="720831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5000"/>
    </mc:Choice>
    <mc:Fallback>
      <p:transition spd="slow" advClick="0" advTm="1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-bg">
            <a:extLst>
              <a:ext uri="{FF2B5EF4-FFF2-40B4-BE49-F238E27FC236}">
                <a16:creationId xmlns:a16="http://schemas.microsoft.com/office/drawing/2014/main" id="{DFE7D832-EC5B-4B94-9176-DD6D80C48B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24CF8EED-A57C-4C03-BE21-7570B3CBF7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E7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D3C070AC-8104-42A7-9BE4-EEF571B64C7A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76200" cy="76200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7D0BE437-7323-47F0-A42C-F59FBA1DAA7E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结构遮挡对照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2B70949D-5A93-4FAA-82C6-77BE0C43909C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7810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简化机体遮挡会改变方向图，但识别特征保持跨域稳定</a:t>
            </a:r>
          </a:p>
        </p:txBody>
      </p:sp>
      <p:sp>
        <p:nvSpPr>
          <p:cNvPr id="6" name="page-marker">
            <a:extLst>
              <a:ext uri="{FF2B5EF4-FFF2-40B4-BE49-F238E27FC236}">
                <a16:creationId xmlns:a16="http://schemas.microsoft.com/office/drawing/2014/main" id="{07162F08-727F-454E-A2BB-77846CA96CAA}"/>
              </a:ext>
            </a:extLst>
          </p:cNvPr>
          <p:cNvSpPr>
            <a:spLocks noGrp="1"/>
          </p:cNvSpPr>
          <p:nvPr/>
        </p:nvSpPr>
        <p:spPr>
          <a:xfrm>
            <a:off x="11239500" y="61150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EF93D558-CA2D-4836-84E3-C168EAE27160}"/>
              </a:ext>
            </a:extLst>
          </p:cNvPr>
          <p:cNvSpPr>
            <a:spLocks noGrp="1"/>
          </p:cNvSpPr>
          <p:nvPr/>
        </p:nvSpPr>
        <p:spPr>
          <a:xfrm>
            <a:off x="552450" y="613410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image-frame">
            <a:extLst>
              <a:ext uri="{FF2B5EF4-FFF2-40B4-BE49-F238E27FC236}">
                <a16:creationId xmlns:a16="http://schemas.microsoft.com/office/drawing/2014/main" id="{9F345DA3-EC99-45C6-BAF1-72A5BA74BB68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6457950" cy="3933825"/>
          </a:xfrm>
          <a:prstGeom prst="rect">
            <a:avLst/>
          </a:prstGeom>
          <a:solidFill>
            <a:srgbClr val="FFFFFF"/>
          </a:solidFill>
          <a:ln w="9525">
            <a:solidFill>
              <a:srgbClr val="CCD5DF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" y="2403195"/>
            <a:ext cx="6381750" cy="2003985"/>
          </a:xfrm>
          <a:prstGeom prst="rect">
            <a:avLst/>
          </a:prstGeom>
        </p:spPr>
      </p:pic>
      <p:sp>
        <p:nvSpPr>
          <p:cNvPr id="10" name="metric-box">
            <a:extLst>
              <a:ext uri="{FF2B5EF4-FFF2-40B4-BE49-F238E27FC236}">
                <a16:creationId xmlns:a16="http://schemas.microsoft.com/office/drawing/2014/main" id="{77D8D6EC-732A-4E80-9D08-E29FF6C2E0CE}"/>
              </a:ext>
            </a:extLst>
          </p:cNvPr>
          <p:cNvSpPr>
            <a:spLocks noGrp="1"/>
          </p:cNvSpPr>
          <p:nvPr/>
        </p:nvSpPr>
        <p:spPr>
          <a:xfrm>
            <a:off x="7429500" y="1619250"/>
            <a:ext cx="2571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1" name="metric-accent">
            <a:extLst>
              <a:ext uri="{FF2B5EF4-FFF2-40B4-BE49-F238E27FC236}">
                <a16:creationId xmlns:a16="http://schemas.microsoft.com/office/drawing/2014/main" id="{FD4EABB4-FDE5-4F19-973A-0D6C13654BFC}"/>
              </a:ext>
            </a:extLst>
          </p:cNvPr>
          <p:cNvSpPr>
            <a:spLocks noGrp="1"/>
          </p:cNvSpPr>
          <p:nvPr/>
        </p:nvSpPr>
        <p:spPr>
          <a:xfrm>
            <a:off x="7429500" y="1619250"/>
            <a:ext cx="57150" cy="914400"/>
          </a:xfrm>
          <a:prstGeom prst="rect">
            <a:avLst/>
          </a:prstGeom>
          <a:solidFill>
            <a:srgbClr val="B879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metric-value">
            <a:extLst>
              <a:ext uri="{FF2B5EF4-FFF2-40B4-BE49-F238E27FC236}">
                <a16:creationId xmlns:a16="http://schemas.microsoft.com/office/drawing/2014/main" id="{E23406CF-6C64-4905-B070-4858A9DF2D94}"/>
              </a:ext>
            </a:extLst>
          </p:cNvPr>
          <p:cNvSpPr>
            <a:spLocks noGrp="1"/>
          </p:cNvSpPr>
          <p:nvPr/>
        </p:nvSpPr>
        <p:spPr>
          <a:xfrm>
            <a:off x="7639050" y="173355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3.06 dB</a:t>
            </a:r>
          </a:p>
        </p:txBody>
      </p:sp>
      <p:sp>
        <p:nvSpPr>
          <p:cNvPr id="13" name="metric-label">
            <a:extLst>
              <a:ext uri="{FF2B5EF4-FFF2-40B4-BE49-F238E27FC236}">
                <a16:creationId xmlns:a16="http://schemas.microsoft.com/office/drawing/2014/main" id="{AEAE5945-7EC4-4CC3-8F58-397E2BFA6840}"/>
              </a:ext>
            </a:extLst>
          </p:cNvPr>
          <p:cNvSpPr>
            <a:spLocks noGrp="1"/>
          </p:cNvSpPr>
          <p:nvPr/>
        </p:nvSpPr>
        <p:spPr>
          <a:xfrm>
            <a:off x="7639050" y="21336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mean shadow</a:t>
            </a:r>
          </a:p>
        </p:txBody>
      </p:sp>
      <p:sp>
        <p:nvSpPr>
          <p:cNvPr id="14" name="metric-box">
            <a:extLst>
              <a:ext uri="{FF2B5EF4-FFF2-40B4-BE49-F238E27FC236}">
                <a16:creationId xmlns:a16="http://schemas.microsoft.com/office/drawing/2014/main" id="{4BCE4173-58F0-44CB-9847-E4E5EBB8DF50}"/>
              </a:ext>
            </a:extLst>
          </p:cNvPr>
          <p:cNvSpPr>
            <a:spLocks noGrp="1"/>
          </p:cNvSpPr>
          <p:nvPr/>
        </p:nvSpPr>
        <p:spPr>
          <a:xfrm>
            <a:off x="7429500" y="2762250"/>
            <a:ext cx="2571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5" name="metric-accent">
            <a:extLst>
              <a:ext uri="{FF2B5EF4-FFF2-40B4-BE49-F238E27FC236}">
                <a16:creationId xmlns:a16="http://schemas.microsoft.com/office/drawing/2014/main" id="{D1F68495-5EA1-4102-9F15-EA6BFC20CA00}"/>
              </a:ext>
            </a:extLst>
          </p:cNvPr>
          <p:cNvSpPr>
            <a:spLocks noGrp="1"/>
          </p:cNvSpPr>
          <p:nvPr/>
        </p:nvSpPr>
        <p:spPr>
          <a:xfrm>
            <a:off x="7429500" y="2762250"/>
            <a:ext cx="57150" cy="914400"/>
          </a:xfrm>
          <a:prstGeom prst="rect">
            <a:avLst/>
          </a:prstGeom>
          <a:solidFill>
            <a:srgbClr val="2E7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metric-value">
            <a:extLst>
              <a:ext uri="{FF2B5EF4-FFF2-40B4-BE49-F238E27FC236}">
                <a16:creationId xmlns:a16="http://schemas.microsoft.com/office/drawing/2014/main" id="{499D2BE3-6FAF-41E2-A22C-3F5AB3B1B3B4}"/>
              </a:ext>
            </a:extLst>
          </p:cNvPr>
          <p:cNvSpPr>
            <a:spLocks noGrp="1"/>
          </p:cNvSpPr>
          <p:nvPr/>
        </p:nvSpPr>
        <p:spPr>
          <a:xfrm>
            <a:off x="7639050" y="287655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6.63 dB</a:t>
            </a:r>
          </a:p>
        </p:txBody>
      </p:sp>
      <p:sp>
        <p:nvSpPr>
          <p:cNvPr id="17" name="metric-label">
            <a:extLst>
              <a:ext uri="{FF2B5EF4-FFF2-40B4-BE49-F238E27FC236}">
                <a16:creationId xmlns:a16="http://schemas.microsoft.com/office/drawing/2014/main" id="{335480F2-AD1F-4BB9-A478-D0874DACDC4A}"/>
              </a:ext>
            </a:extLst>
          </p:cNvPr>
          <p:cNvSpPr>
            <a:spLocks noGrp="1"/>
          </p:cNvSpPr>
          <p:nvPr/>
        </p:nvSpPr>
        <p:spPr>
          <a:xfrm>
            <a:off x="7639050" y="32766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P95 shadow</a:t>
            </a:r>
          </a:p>
        </p:txBody>
      </p:sp>
      <p:sp>
        <p:nvSpPr>
          <p:cNvPr id="18" name="metric-box">
            <a:extLst>
              <a:ext uri="{FF2B5EF4-FFF2-40B4-BE49-F238E27FC236}">
                <a16:creationId xmlns:a16="http://schemas.microsoft.com/office/drawing/2014/main" id="{F04F930E-CE76-4CCA-8D60-DE7C265DCBE1}"/>
              </a:ext>
            </a:extLst>
          </p:cNvPr>
          <p:cNvSpPr>
            <a:spLocks noGrp="1"/>
          </p:cNvSpPr>
          <p:nvPr/>
        </p:nvSpPr>
        <p:spPr>
          <a:xfrm>
            <a:off x="7429500" y="3905250"/>
            <a:ext cx="25717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9" name="metric-accent">
            <a:extLst>
              <a:ext uri="{FF2B5EF4-FFF2-40B4-BE49-F238E27FC236}">
                <a16:creationId xmlns:a16="http://schemas.microsoft.com/office/drawing/2014/main" id="{C4C1243D-48DC-4950-8EA4-0CF2C5CA821C}"/>
              </a:ext>
            </a:extLst>
          </p:cNvPr>
          <p:cNvSpPr>
            <a:spLocks noGrp="1"/>
          </p:cNvSpPr>
          <p:nvPr/>
        </p:nvSpPr>
        <p:spPr>
          <a:xfrm>
            <a:off x="7429500" y="3905250"/>
            <a:ext cx="57150" cy="914400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metric-value">
            <a:extLst>
              <a:ext uri="{FF2B5EF4-FFF2-40B4-BE49-F238E27FC236}">
                <a16:creationId xmlns:a16="http://schemas.microsoft.com/office/drawing/2014/main" id="{B5807F3D-626E-4807-B8FF-6D8ACE238C04}"/>
              </a:ext>
            </a:extLst>
          </p:cNvPr>
          <p:cNvSpPr>
            <a:spLocks noGrp="1"/>
          </p:cNvSpPr>
          <p:nvPr/>
        </p:nvSpPr>
        <p:spPr>
          <a:xfrm>
            <a:off x="7639050" y="401955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1.000</a:t>
            </a:r>
          </a:p>
        </p:txBody>
      </p:sp>
      <p:sp>
        <p:nvSpPr>
          <p:cNvPr id="21" name="metric-label">
            <a:extLst>
              <a:ext uri="{FF2B5EF4-FFF2-40B4-BE49-F238E27FC236}">
                <a16:creationId xmlns:a16="http://schemas.microsoft.com/office/drawing/2014/main" id="{87D1B2ED-2DAF-4891-A00A-21F916B3560C}"/>
              </a:ext>
            </a:extLst>
          </p:cNvPr>
          <p:cNvSpPr>
            <a:spLocks noGrp="1"/>
          </p:cNvSpPr>
          <p:nvPr/>
        </p:nvSpPr>
        <p:spPr>
          <a:xfrm>
            <a:off x="7639050" y="44196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cross-domain</a:t>
            </a:r>
          </a:p>
        </p:txBody>
      </p:sp>
      <p:sp>
        <p:nvSpPr>
          <p:cNvPr id="22" name="note-box">
            <a:extLst>
              <a:ext uri="{FF2B5EF4-FFF2-40B4-BE49-F238E27FC236}">
                <a16:creationId xmlns:a16="http://schemas.microsoft.com/office/drawing/2014/main" id="{B6575BBC-4519-41AA-919D-3BDEB2986A7D}"/>
              </a:ext>
            </a:extLst>
          </p:cNvPr>
          <p:cNvSpPr>
            <a:spLocks noGrp="1"/>
          </p:cNvSpPr>
          <p:nvPr/>
        </p:nvSpPr>
        <p:spPr>
          <a:xfrm>
            <a:off x="7143750" y="5219700"/>
            <a:ext cx="4095750" cy="723900"/>
          </a:xfrm>
          <a:prstGeom prst="rect">
            <a:avLst/>
          </a:prstGeom>
          <a:solidFill>
            <a:srgbClr val="F7EBD8"/>
          </a:solidFill>
          <a:ln w="9525">
            <a:solidFill>
              <a:srgbClr val="E2D2B8"/>
            </a:solidFill>
            <a:prstDash val="solid"/>
          </a:ln>
        </p:spPr>
      </p:sp>
      <p:sp>
        <p:nvSpPr>
          <p:cNvPr id="23" name="note-text">
            <a:extLst>
              <a:ext uri="{FF2B5EF4-FFF2-40B4-BE49-F238E27FC236}">
                <a16:creationId xmlns:a16="http://schemas.microsoft.com/office/drawing/2014/main" id="{287712F2-0137-42BE-907A-B228BA8C5A79}"/>
              </a:ext>
            </a:extLst>
          </p:cNvPr>
          <p:cNvSpPr>
            <a:spLocks noGrp="1"/>
          </p:cNvSpPr>
          <p:nvPr/>
        </p:nvSpPr>
        <p:spPr>
          <a:xfrm>
            <a:off x="7315200" y="5314950"/>
            <a:ext cx="37528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这是 simplified aircraft occlusion transfer，不是 full-wave CST airframe scattering；用于报告中保守约束结论边界。</a:t>
            </a:r>
          </a:p>
        </p:txBody>
      </p:sp>
    </p:spTree>
    <p:extLst>
      <p:ext uri="{BB962C8B-B14F-4D97-AF65-F5344CB8AC3E}">
        <p14:creationId xmlns:p14="http://schemas.microsoft.com/office/powerpoint/2010/main" val="1005814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6000"/>
    </mc:Choice>
    <mc:Fallback>
      <p:transition spd="slow" advClick="0" advTm="16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bg">
            <a:extLst>
              <a:ext uri="{FF2B5EF4-FFF2-40B4-BE49-F238E27FC236}">
                <a16:creationId xmlns:a16="http://schemas.microsoft.com/office/drawing/2014/main" id="{6657E3EB-FACF-4093-B7B4-5D96D1F466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75AA566A-618B-4572-B4FB-4334E3B13E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E7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282462D0-3920-41F4-99AA-630FDC046839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76200" cy="76200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0286613C-694E-4328-ACF0-18DE9F4D895F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创新点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47C1938C-1545-4A10-81E3-602DAA80F421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7810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创新不在单个脚本，而在物理模型、测点压缩、联合指纹和可复现审计的组合</a:t>
            </a:r>
          </a:p>
        </p:txBody>
      </p:sp>
      <p:sp>
        <p:nvSpPr>
          <p:cNvPr id="6" name="page-marker">
            <a:extLst>
              <a:ext uri="{FF2B5EF4-FFF2-40B4-BE49-F238E27FC236}">
                <a16:creationId xmlns:a16="http://schemas.microsoft.com/office/drawing/2014/main" id="{EF482D49-76BE-48AD-A92C-937D2B5BDAB6}"/>
              </a:ext>
            </a:extLst>
          </p:cNvPr>
          <p:cNvSpPr>
            <a:spLocks noGrp="1"/>
          </p:cNvSpPr>
          <p:nvPr/>
        </p:nvSpPr>
        <p:spPr>
          <a:xfrm>
            <a:off x="11239500" y="61150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05FB2FD2-B8C0-454E-99EC-F03CAEAA7209}"/>
              </a:ext>
            </a:extLst>
          </p:cNvPr>
          <p:cNvSpPr>
            <a:spLocks noGrp="1"/>
          </p:cNvSpPr>
          <p:nvPr/>
        </p:nvSpPr>
        <p:spPr>
          <a:xfrm>
            <a:off x="552450" y="613410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6559EA-0D8F-40AB-B350-DABDEC2A972F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419100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36B47B-6552-4302-9CDF-57586F9735FF}"/>
              </a:ext>
            </a:extLst>
          </p:cNvPr>
          <p:cNvSpPr>
            <a:spLocks noGrp="1"/>
          </p:cNvSpPr>
          <p:nvPr/>
        </p:nvSpPr>
        <p:spPr>
          <a:xfrm>
            <a:off x="1047750" y="188595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受限域等效源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DE465E-355C-43C2-AF5A-EB9AC8D5EA23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371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把复杂辐射体替换为可计算、可诊断的源分布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DC8DC4-F934-4E37-82DB-D85210719838}"/>
              </a:ext>
            </a:extLst>
          </p:cNvPr>
          <p:cNvSpPr>
            <a:spLocks noGrp="1"/>
          </p:cNvSpPr>
          <p:nvPr/>
        </p:nvSpPr>
        <p:spPr>
          <a:xfrm>
            <a:off x="5676900" y="1676400"/>
            <a:ext cx="4191000" cy="1162050"/>
          </a:xfrm>
          <a:prstGeom prst="rect">
            <a:avLst/>
          </a:prstGeom>
          <a:solidFill>
            <a:srgbClr val="E8F1EC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392CCC-B3DA-4E9F-8DF8-41B60752DA6D}"/>
              </a:ext>
            </a:extLst>
          </p:cNvPr>
          <p:cNvSpPr>
            <a:spLocks noGrp="1"/>
          </p:cNvSpPr>
          <p:nvPr/>
        </p:nvSpPr>
        <p:spPr>
          <a:xfrm>
            <a:off x="5905500" y="188595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半球面少测点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6E8E34-C505-465D-A367-9A7DDE59D13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371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162 点全量与 75/50/25% 压缩对照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514A3F0-8F1F-4C22-99E6-B22040C267DC}"/>
              </a:ext>
            </a:extLst>
          </p:cNvPr>
          <p:cNvSpPr>
            <a:spLocks noGrp="1"/>
          </p:cNvSpPr>
          <p:nvPr/>
        </p:nvSpPr>
        <p:spPr>
          <a:xfrm>
            <a:off x="819150" y="3295650"/>
            <a:ext cx="419100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AD011C-B720-413C-847B-7A6C11B00B2C}"/>
              </a:ext>
            </a:extLst>
          </p:cNvPr>
          <p:cNvSpPr>
            <a:spLocks noGrp="1"/>
          </p:cNvSpPr>
          <p:nvPr/>
        </p:nvSpPr>
        <p:spPr>
          <a:xfrm>
            <a:off x="1047750" y="350520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空频极化指纹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B09E41-9C71-4566-B2C7-189FE5280E4F}"/>
              </a:ext>
            </a:extLst>
          </p:cNvPr>
          <p:cNvSpPr>
            <a:spLocks noGrp="1"/>
          </p:cNvSpPr>
          <p:nvPr/>
        </p:nvSpPr>
        <p:spPr>
          <a:xfrm>
            <a:off x="1047750" y="3886200"/>
            <a:ext cx="371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方向图、相位、频谱和极化联合表征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E5E580-1EF7-495A-B9AB-D062A066F58F}"/>
              </a:ext>
            </a:extLst>
          </p:cNvPr>
          <p:cNvSpPr>
            <a:spLocks noGrp="1"/>
          </p:cNvSpPr>
          <p:nvPr/>
        </p:nvSpPr>
        <p:spPr>
          <a:xfrm>
            <a:off x="5676900" y="3295650"/>
            <a:ext cx="4191000" cy="1162050"/>
          </a:xfrm>
          <a:prstGeom prst="rect">
            <a:avLst/>
          </a:prstGeom>
          <a:solidFill>
            <a:srgbClr val="E8F1EC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92117E1-4B0D-477F-8C23-844F840EDE8A}"/>
              </a:ext>
            </a:extLst>
          </p:cNvPr>
          <p:cNvSpPr>
            <a:spLocks noGrp="1"/>
          </p:cNvSpPr>
          <p:nvPr/>
        </p:nvSpPr>
        <p:spPr>
          <a:xfrm>
            <a:off x="5905500" y="3505200"/>
            <a:ext cx="3714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CST-Python 审计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EA0B0C4-7122-4688-A4FD-42BD6E2D82A5}"/>
              </a:ext>
            </a:extLst>
          </p:cNvPr>
          <p:cNvSpPr>
            <a:spLocks noGrp="1"/>
          </p:cNvSpPr>
          <p:nvPr/>
        </p:nvSpPr>
        <p:spPr>
          <a:xfrm>
            <a:off x="5905500" y="3886200"/>
            <a:ext cx="371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manifest、strict merge、scorecard、completion audit</a:t>
            </a:r>
          </a:p>
        </p:txBody>
      </p:sp>
      <p:sp>
        <p:nvSpPr>
          <p:cNvPr id="20" name="note-box">
            <a:extLst>
              <a:ext uri="{FF2B5EF4-FFF2-40B4-BE49-F238E27FC236}">
                <a16:creationId xmlns:a16="http://schemas.microsoft.com/office/drawing/2014/main" id="{0B364FE4-6A18-4AE4-B6D3-F1483B496A02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8953500" cy="552450"/>
          </a:xfrm>
          <a:prstGeom prst="rect">
            <a:avLst/>
          </a:prstGeom>
          <a:solidFill>
            <a:srgbClr val="E7EEF6"/>
          </a:solidFill>
          <a:ln w="9525">
            <a:solidFill>
              <a:srgbClr val="E2D2B8"/>
            </a:solidFill>
            <a:prstDash val="solid"/>
          </a:ln>
        </p:spPr>
      </p:sp>
      <p:sp>
        <p:nvSpPr>
          <p:cNvPr id="21" name="note-text">
            <a:extLst>
              <a:ext uri="{FF2B5EF4-FFF2-40B4-BE49-F238E27FC236}">
                <a16:creationId xmlns:a16="http://schemas.microsoft.com/office/drawing/2014/main" id="{DC41B623-73F3-4D09-8C91-0D4CEECD3EC0}"/>
              </a:ext>
            </a:extLst>
          </p:cNvPr>
          <p:cNvSpPr>
            <a:spLocks noGrp="1"/>
          </p:cNvSpPr>
          <p:nvPr/>
        </p:nvSpPr>
        <p:spPr>
          <a:xfrm>
            <a:off x="1028700" y="5429250"/>
            <a:ext cx="8610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答辩口径：先讲评分项对应证据，再讲边界；不把 simplified 结构对照包装成 full-wave airframe。</a:t>
            </a:r>
          </a:p>
        </p:txBody>
      </p:sp>
    </p:spTree>
    <p:extLst>
      <p:ext uri="{BB962C8B-B14F-4D97-AF65-F5344CB8AC3E}">
        <p14:creationId xmlns:p14="http://schemas.microsoft.com/office/powerpoint/2010/main" val="744693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3000"/>
    </mc:Choice>
    <mc:Fallback>
      <p:transition spd="slow" advClick="0" advTm="1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-bg">
            <a:extLst>
              <a:ext uri="{FF2B5EF4-FFF2-40B4-BE49-F238E27FC236}">
                <a16:creationId xmlns:a16="http://schemas.microsoft.com/office/drawing/2014/main" id="{5F2AAF48-91CD-453F-ADF0-06CE7E18A1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accent">
            <a:extLst>
              <a:ext uri="{FF2B5EF4-FFF2-40B4-BE49-F238E27FC236}">
                <a16:creationId xmlns:a16="http://schemas.microsoft.com/office/drawing/2014/main" id="{03E2AB88-F6B7-4164-8F0F-A284D0C41A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E7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4FABEBD5-F5AD-4684-80D0-BCB2F7C5C9D6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76200" cy="76200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>
              <a:ext uri="{FF2B5EF4-FFF2-40B4-BE49-F238E27FC236}">
                <a16:creationId xmlns:a16="http://schemas.microsoft.com/office/drawing/2014/main" id="{C13EDEE7-8137-43E0-8B67-CE9FC0744084}"/>
              </a:ext>
            </a:extLst>
          </p:cNvPr>
          <p:cNvSpPr>
            <a:spLocks noGrp="1"/>
          </p:cNvSpPr>
          <p:nvPr/>
        </p:nvSpPr>
        <p:spPr>
          <a:xfrm>
            <a:off x="552450" y="3238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C8C6A"/>
                </a:solidFill>
                <a:latin typeface="Microsoft YaHei"/>
                <a:ea typeface="Microsoft YaHei"/>
                <a:cs typeface="Microsoft YaHei"/>
              </a:rPr>
              <a:t>总结与交付</a:t>
            </a:r>
          </a:p>
        </p:txBody>
      </p:sp>
      <p:sp>
        <p:nvSpPr>
          <p:cNvPr id="5" name="claim-title">
            <a:extLst>
              <a:ext uri="{FF2B5EF4-FFF2-40B4-BE49-F238E27FC236}">
                <a16:creationId xmlns:a16="http://schemas.microsoft.com/office/drawing/2014/main" id="{634E21F7-771B-4181-989E-E82C796065BA}"/>
              </a:ext>
            </a:extLst>
          </p:cNvPr>
          <p:cNvSpPr>
            <a:spLocks noGrp="1"/>
          </p:cNvSpPr>
          <p:nvPr/>
        </p:nvSpPr>
        <p:spPr>
          <a:xfrm>
            <a:off x="552450" y="590550"/>
            <a:ext cx="7810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技术证据已基本齐套，最终提交仍由 G5 四件套决定</a:t>
            </a:r>
          </a:p>
        </p:txBody>
      </p:sp>
      <p:sp>
        <p:nvSpPr>
          <p:cNvPr id="6" name="page-marker">
            <a:extLst>
              <a:ext uri="{FF2B5EF4-FFF2-40B4-BE49-F238E27FC236}">
                <a16:creationId xmlns:a16="http://schemas.microsoft.com/office/drawing/2014/main" id="{B6DB98A5-9087-4D41-A3DF-AF06473539A0}"/>
              </a:ext>
            </a:extLst>
          </p:cNvPr>
          <p:cNvSpPr>
            <a:spLocks noGrp="1"/>
          </p:cNvSpPr>
          <p:nvPr/>
        </p:nvSpPr>
        <p:spPr>
          <a:xfrm>
            <a:off x="11239500" y="61150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8E5ECAE9-131E-4C57-A0FC-67EF99069336}"/>
              </a:ext>
            </a:extLst>
          </p:cNvPr>
          <p:cNvSpPr>
            <a:spLocks noGrp="1"/>
          </p:cNvSpPr>
          <p:nvPr/>
        </p:nvSpPr>
        <p:spPr>
          <a:xfrm>
            <a:off x="552450" y="6134100"/>
            <a:ext cx="571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CS-202614 | 半球面 2π | CST-Python 闭环</a:t>
            </a:r>
          </a:p>
        </p:txBody>
      </p:sp>
      <p:sp>
        <p:nvSpPr>
          <p:cNvPr id="8" name="table-cell">
            <a:extLst>
              <a:ext uri="{FF2B5EF4-FFF2-40B4-BE49-F238E27FC236}">
                <a16:creationId xmlns:a16="http://schemas.microsoft.com/office/drawing/2014/main" id="{ECE6EC55-1DB9-42B4-A1A7-3A1C60265E81}"/>
              </a:ext>
            </a:extLst>
          </p:cNvPr>
          <p:cNvSpPr>
            <a:spLocks noGrp="1"/>
          </p:cNvSpPr>
          <p:nvPr/>
        </p:nvSpPr>
        <p:spPr>
          <a:xfrm>
            <a:off x="819150" y="1600200"/>
            <a:ext cx="2476500" cy="666750"/>
          </a:xfrm>
          <a:prstGeom prst="rect">
            <a:avLst/>
          </a:prstGeom>
          <a:solidFill>
            <a:srgbClr val="E7EEF6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9" name="table-text">
            <a:extLst>
              <a:ext uri="{FF2B5EF4-FFF2-40B4-BE49-F238E27FC236}">
                <a16:creationId xmlns:a16="http://schemas.microsoft.com/office/drawing/2014/main" id="{F61B74D5-AC54-4931-931E-F1FE07D57C1E}"/>
              </a:ext>
            </a:extLst>
          </p:cNvPr>
          <p:cNvSpPr>
            <a:spLocks noGrp="1"/>
          </p:cNvSpPr>
          <p:nvPr/>
        </p:nvSpPr>
        <p:spPr>
          <a:xfrm>
            <a:off x="895350" y="1676400"/>
            <a:ext cx="2324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  <p:sp>
        <p:nvSpPr>
          <p:cNvPr id="10" name="table-cell">
            <a:extLst>
              <a:ext uri="{FF2B5EF4-FFF2-40B4-BE49-F238E27FC236}">
                <a16:creationId xmlns:a16="http://schemas.microsoft.com/office/drawing/2014/main" id="{2088E4BB-38B1-4610-A19B-14D0D7B2FFBE}"/>
              </a:ext>
            </a:extLst>
          </p:cNvPr>
          <p:cNvSpPr>
            <a:spLocks noGrp="1"/>
          </p:cNvSpPr>
          <p:nvPr/>
        </p:nvSpPr>
        <p:spPr>
          <a:xfrm>
            <a:off x="3295650" y="1600200"/>
            <a:ext cx="2476500" cy="666750"/>
          </a:xfrm>
          <a:prstGeom prst="rect">
            <a:avLst/>
          </a:prstGeom>
          <a:solidFill>
            <a:srgbClr val="E7EEF6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1" name="table-text">
            <a:extLst>
              <a:ext uri="{FF2B5EF4-FFF2-40B4-BE49-F238E27FC236}">
                <a16:creationId xmlns:a16="http://schemas.microsoft.com/office/drawing/2014/main" id="{EA0DBA83-5EF5-483D-95A3-D47A53AB5A79}"/>
              </a:ext>
            </a:extLst>
          </p:cNvPr>
          <p:cNvSpPr>
            <a:spLocks noGrp="1"/>
          </p:cNvSpPr>
          <p:nvPr/>
        </p:nvSpPr>
        <p:spPr>
          <a:xfrm>
            <a:off x="3371850" y="1676400"/>
            <a:ext cx="2324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12" name="table-cell">
            <a:extLst>
              <a:ext uri="{FF2B5EF4-FFF2-40B4-BE49-F238E27FC236}">
                <a16:creationId xmlns:a16="http://schemas.microsoft.com/office/drawing/2014/main" id="{DD05490F-3809-4754-B900-3B558711A90D}"/>
              </a:ext>
            </a:extLst>
          </p:cNvPr>
          <p:cNvSpPr>
            <a:spLocks noGrp="1"/>
          </p:cNvSpPr>
          <p:nvPr/>
        </p:nvSpPr>
        <p:spPr>
          <a:xfrm>
            <a:off x="5772150" y="1600200"/>
            <a:ext cx="4381500" cy="666750"/>
          </a:xfrm>
          <a:prstGeom prst="rect">
            <a:avLst/>
          </a:prstGeom>
          <a:solidFill>
            <a:srgbClr val="E7EEF6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3" name="table-text">
            <a:extLst>
              <a:ext uri="{FF2B5EF4-FFF2-40B4-BE49-F238E27FC236}">
                <a16:creationId xmlns:a16="http://schemas.microsoft.com/office/drawing/2014/main" id="{F003CFAF-84A9-4562-9AA3-85E855267A78}"/>
              </a:ext>
            </a:extLst>
          </p:cNvPr>
          <p:cNvSpPr>
            <a:spLocks noGrp="1"/>
          </p:cNvSpPr>
          <p:nvPr/>
        </p:nvSpPr>
        <p:spPr>
          <a:xfrm>
            <a:off x="5848350" y="1676400"/>
            <a:ext cx="4229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关闭证据</a:t>
            </a:r>
          </a:p>
        </p:txBody>
      </p:sp>
      <p:sp>
        <p:nvSpPr>
          <p:cNvPr id="14" name="table-cell">
            <a:extLst>
              <a:ext uri="{FF2B5EF4-FFF2-40B4-BE49-F238E27FC236}">
                <a16:creationId xmlns:a16="http://schemas.microsoft.com/office/drawing/2014/main" id="{46680E82-7C8F-4ADD-9A99-7B23825AC38E}"/>
              </a:ext>
            </a:extLst>
          </p:cNvPr>
          <p:cNvSpPr>
            <a:spLocks noGrp="1"/>
          </p:cNvSpPr>
          <p:nvPr/>
        </p:nvSpPr>
        <p:spPr>
          <a:xfrm>
            <a:off x="819150" y="2266950"/>
            <a:ext cx="2476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5" name="table-text">
            <a:extLst>
              <a:ext uri="{FF2B5EF4-FFF2-40B4-BE49-F238E27FC236}">
                <a16:creationId xmlns:a16="http://schemas.microsoft.com/office/drawing/2014/main" id="{4B60C0AE-D5C6-4229-B544-C0B810918CC5}"/>
              </a:ext>
            </a:extLst>
          </p:cNvPr>
          <p:cNvSpPr>
            <a:spLocks noGrp="1"/>
          </p:cNvSpPr>
          <p:nvPr/>
        </p:nvSpPr>
        <p:spPr>
          <a:xfrm>
            <a:off x="895350" y="2343150"/>
            <a:ext cx="2324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方案报告 DOCX/PDF</a:t>
            </a:r>
          </a:p>
        </p:txBody>
      </p:sp>
      <p:sp>
        <p:nvSpPr>
          <p:cNvPr id="16" name="table-cell">
            <a:extLst>
              <a:ext uri="{FF2B5EF4-FFF2-40B4-BE49-F238E27FC236}">
                <a16:creationId xmlns:a16="http://schemas.microsoft.com/office/drawing/2014/main" id="{563E34D7-6ACB-436F-B74F-AB25095CE516}"/>
              </a:ext>
            </a:extLst>
          </p:cNvPr>
          <p:cNvSpPr>
            <a:spLocks noGrp="1"/>
          </p:cNvSpPr>
          <p:nvPr/>
        </p:nvSpPr>
        <p:spPr>
          <a:xfrm>
            <a:off x="3295650" y="2266950"/>
            <a:ext cx="2476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7" name="table-text">
            <a:extLst>
              <a:ext uri="{FF2B5EF4-FFF2-40B4-BE49-F238E27FC236}">
                <a16:creationId xmlns:a16="http://schemas.microsoft.com/office/drawing/2014/main" id="{215F5097-4CF4-435C-8009-7BE5335008B3}"/>
              </a:ext>
            </a:extLst>
          </p:cNvPr>
          <p:cNvSpPr>
            <a:spLocks noGrp="1"/>
          </p:cNvSpPr>
          <p:nvPr/>
        </p:nvSpPr>
        <p:spPr>
          <a:xfrm>
            <a:off x="3371850" y="2343150"/>
            <a:ext cx="2324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已生成</a:t>
            </a:r>
          </a:p>
        </p:txBody>
      </p:sp>
      <p:sp>
        <p:nvSpPr>
          <p:cNvPr id="18" name="table-cell">
            <a:extLst>
              <a:ext uri="{FF2B5EF4-FFF2-40B4-BE49-F238E27FC236}">
                <a16:creationId xmlns:a16="http://schemas.microsoft.com/office/drawing/2014/main" id="{EE42AD04-1BEA-40B5-814B-F899CB8F4417}"/>
              </a:ext>
            </a:extLst>
          </p:cNvPr>
          <p:cNvSpPr>
            <a:spLocks noGrp="1"/>
          </p:cNvSpPr>
          <p:nvPr/>
        </p:nvSpPr>
        <p:spPr>
          <a:xfrm>
            <a:off x="5772150" y="2266950"/>
            <a:ext cx="4381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9" name="table-text">
            <a:extLst>
              <a:ext uri="{FF2B5EF4-FFF2-40B4-BE49-F238E27FC236}">
                <a16:creationId xmlns:a16="http://schemas.microsoft.com/office/drawing/2014/main" id="{67CF0E90-D866-4424-8C10-071EA34598D2}"/>
              </a:ext>
            </a:extLst>
          </p:cNvPr>
          <p:cNvSpPr>
            <a:spLocks noGrp="1"/>
          </p:cNvSpPr>
          <p:nvPr/>
        </p:nvSpPr>
        <p:spPr>
          <a:xfrm>
            <a:off x="5848350" y="2343150"/>
            <a:ext cx="4229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submission/01_report</a:t>
            </a:r>
          </a:p>
        </p:txBody>
      </p:sp>
      <p:sp>
        <p:nvSpPr>
          <p:cNvPr id="20" name="table-cell">
            <a:extLst>
              <a:ext uri="{FF2B5EF4-FFF2-40B4-BE49-F238E27FC236}">
                <a16:creationId xmlns:a16="http://schemas.microsoft.com/office/drawing/2014/main" id="{00C61126-1725-4022-BAD8-883CAE984B68}"/>
              </a:ext>
            </a:extLst>
          </p:cNvPr>
          <p:cNvSpPr>
            <a:spLocks noGrp="1"/>
          </p:cNvSpPr>
          <p:nvPr/>
        </p:nvSpPr>
        <p:spPr>
          <a:xfrm>
            <a:off x="819150" y="2933700"/>
            <a:ext cx="2476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1" name="table-text">
            <a:extLst>
              <a:ext uri="{FF2B5EF4-FFF2-40B4-BE49-F238E27FC236}">
                <a16:creationId xmlns:a16="http://schemas.microsoft.com/office/drawing/2014/main" id="{70B2971F-29B7-4E2D-AB20-A8677B16C141}"/>
              </a:ext>
            </a:extLst>
          </p:cNvPr>
          <p:cNvSpPr>
            <a:spLocks noGrp="1"/>
          </p:cNvSpPr>
          <p:nvPr/>
        </p:nvSpPr>
        <p:spPr>
          <a:xfrm>
            <a:off x="895350" y="3009900"/>
            <a:ext cx="2324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答辩 PPTX/PDF</a:t>
            </a:r>
          </a:p>
        </p:txBody>
      </p:sp>
      <p:sp>
        <p:nvSpPr>
          <p:cNvPr id="22" name="table-cell">
            <a:extLst>
              <a:ext uri="{FF2B5EF4-FFF2-40B4-BE49-F238E27FC236}">
                <a16:creationId xmlns:a16="http://schemas.microsoft.com/office/drawing/2014/main" id="{C49E1E50-66E0-4B74-8981-7010E5A5B6D5}"/>
              </a:ext>
            </a:extLst>
          </p:cNvPr>
          <p:cNvSpPr>
            <a:spLocks noGrp="1"/>
          </p:cNvSpPr>
          <p:nvPr/>
        </p:nvSpPr>
        <p:spPr>
          <a:xfrm>
            <a:off x="3295650" y="2933700"/>
            <a:ext cx="2476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3" name="table-text">
            <a:extLst>
              <a:ext uri="{FF2B5EF4-FFF2-40B4-BE49-F238E27FC236}">
                <a16:creationId xmlns:a16="http://schemas.microsoft.com/office/drawing/2014/main" id="{87456CFF-933D-4996-816C-69584F420522}"/>
              </a:ext>
            </a:extLst>
          </p:cNvPr>
          <p:cNvSpPr>
            <a:spLocks noGrp="1"/>
          </p:cNvSpPr>
          <p:nvPr/>
        </p:nvSpPr>
        <p:spPr>
          <a:xfrm>
            <a:off x="3371850" y="3009900"/>
            <a:ext cx="2324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本轮生成 PPTX</a:t>
            </a:r>
          </a:p>
        </p:txBody>
      </p:sp>
      <p:sp>
        <p:nvSpPr>
          <p:cNvPr id="24" name="table-cell">
            <a:extLst>
              <a:ext uri="{FF2B5EF4-FFF2-40B4-BE49-F238E27FC236}">
                <a16:creationId xmlns:a16="http://schemas.microsoft.com/office/drawing/2014/main" id="{6C78C1EF-CA28-4A8E-AB37-A53F1FDE8DF3}"/>
              </a:ext>
            </a:extLst>
          </p:cNvPr>
          <p:cNvSpPr>
            <a:spLocks noGrp="1"/>
          </p:cNvSpPr>
          <p:nvPr/>
        </p:nvSpPr>
        <p:spPr>
          <a:xfrm>
            <a:off x="5772150" y="2933700"/>
            <a:ext cx="4381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5" name="table-text">
            <a:extLst>
              <a:ext uri="{FF2B5EF4-FFF2-40B4-BE49-F238E27FC236}">
                <a16:creationId xmlns:a16="http://schemas.microsoft.com/office/drawing/2014/main" id="{9739CA03-FE45-4039-818E-03D0DDB40833}"/>
              </a:ext>
            </a:extLst>
          </p:cNvPr>
          <p:cNvSpPr>
            <a:spLocks noGrp="1"/>
          </p:cNvSpPr>
          <p:nvPr/>
        </p:nvSpPr>
        <p:spPr>
          <a:xfrm>
            <a:off x="5848350" y="3009900"/>
            <a:ext cx="4229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submission/02_presentation</a:t>
            </a:r>
          </a:p>
        </p:txBody>
      </p:sp>
      <p:sp>
        <p:nvSpPr>
          <p:cNvPr id="26" name="table-cell">
            <a:extLst>
              <a:ext uri="{FF2B5EF4-FFF2-40B4-BE49-F238E27FC236}">
                <a16:creationId xmlns:a16="http://schemas.microsoft.com/office/drawing/2014/main" id="{334CD702-BB13-4C90-A64A-B96E3384F4AA}"/>
              </a:ext>
            </a:extLst>
          </p:cNvPr>
          <p:cNvSpPr>
            <a:spLocks noGrp="1"/>
          </p:cNvSpPr>
          <p:nvPr/>
        </p:nvSpPr>
        <p:spPr>
          <a:xfrm>
            <a:off x="819150" y="3600450"/>
            <a:ext cx="2476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7" name="table-text">
            <a:extLst>
              <a:ext uri="{FF2B5EF4-FFF2-40B4-BE49-F238E27FC236}">
                <a16:creationId xmlns:a16="http://schemas.microsoft.com/office/drawing/2014/main" id="{E8F602D4-D8C1-4CC5-9C62-96ABFADE98E3}"/>
              </a:ext>
            </a:extLst>
          </p:cNvPr>
          <p:cNvSpPr>
            <a:spLocks noGrp="1"/>
          </p:cNvSpPr>
          <p:nvPr/>
        </p:nvSpPr>
        <p:spPr>
          <a:xfrm>
            <a:off x="895350" y="3676650"/>
            <a:ext cx="2324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演示视频 MP4</a:t>
            </a:r>
          </a:p>
        </p:txBody>
      </p:sp>
      <p:sp>
        <p:nvSpPr>
          <p:cNvPr id="28" name="table-cell">
            <a:extLst>
              <a:ext uri="{FF2B5EF4-FFF2-40B4-BE49-F238E27FC236}">
                <a16:creationId xmlns:a16="http://schemas.microsoft.com/office/drawing/2014/main" id="{D8492BD2-1D35-4AB8-96B7-327333FF4207}"/>
              </a:ext>
            </a:extLst>
          </p:cNvPr>
          <p:cNvSpPr>
            <a:spLocks noGrp="1"/>
          </p:cNvSpPr>
          <p:nvPr/>
        </p:nvSpPr>
        <p:spPr>
          <a:xfrm>
            <a:off x="3295650" y="3600450"/>
            <a:ext cx="2476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29" name="table-text">
            <a:extLst>
              <a:ext uri="{FF2B5EF4-FFF2-40B4-BE49-F238E27FC236}">
                <a16:creationId xmlns:a16="http://schemas.microsoft.com/office/drawing/2014/main" id="{73F4C21E-CD6B-4546-A8CF-A3EBF03ED0ED}"/>
              </a:ext>
            </a:extLst>
          </p:cNvPr>
          <p:cNvSpPr>
            <a:spLocks noGrp="1"/>
          </p:cNvSpPr>
          <p:nvPr/>
        </p:nvSpPr>
        <p:spPr>
          <a:xfrm>
            <a:off x="3371850" y="3676650"/>
            <a:ext cx="2324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待录制/生成</a:t>
            </a:r>
          </a:p>
        </p:txBody>
      </p:sp>
      <p:sp>
        <p:nvSpPr>
          <p:cNvPr id="30" name="table-cell">
            <a:extLst>
              <a:ext uri="{FF2B5EF4-FFF2-40B4-BE49-F238E27FC236}">
                <a16:creationId xmlns:a16="http://schemas.microsoft.com/office/drawing/2014/main" id="{367ADDF0-E013-4288-9851-980908EB2B3F}"/>
              </a:ext>
            </a:extLst>
          </p:cNvPr>
          <p:cNvSpPr>
            <a:spLocks noGrp="1"/>
          </p:cNvSpPr>
          <p:nvPr/>
        </p:nvSpPr>
        <p:spPr>
          <a:xfrm>
            <a:off x="5772150" y="3600450"/>
            <a:ext cx="4381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1" name="table-text">
            <a:extLst>
              <a:ext uri="{FF2B5EF4-FFF2-40B4-BE49-F238E27FC236}">
                <a16:creationId xmlns:a16="http://schemas.microsoft.com/office/drawing/2014/main" id="{87C4D297-E95E-452D-80E9-0AA59B503D40}"/>
              </a:ext>
            </a:extLst>
          </p:cNvPr>
          <p:cNvSpPr>
            <a:spLocks noGrp="1"/>
          </p:cNvSpPr>
          <p:nvPr/>
        </p:nvSpPr>
        <p:spPr>
          <a:xfrm>
            <a:off x="5848350" y="3676650"/>
            <a:ext cx="4229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submission/03_video/demo_video.mp4</a:t>
            </a:r>
          </a:p>
        </p:txBody>
      </p:sp>
      <p:sp>
        <p:nvSpPr>
          <p:cNvPr id="32" name="table-cell">
            <a:extLst>
              <a:ext uri="{FF2B5EF4-FFF2-40B4-BE49-F238E27FC236}">
                <a16:creationId xmlns:a16="http://schemas.microsoft.com/office/drawing/2014/main" id="{6A4A3A55-3C37-4B7B-8A31-F03865552AB6}"/>
              </a:ext>
            </a:extLst>
          </p:cNvPr>
          <p:cNvSpPr>
            <a:spLocks noGrp="1"/>
          </p:cNvSpPr>
          <p:nvPr/>
        </p:nvSpPr>
        <p:spPr>
          <a:xfrm>
            <a:off x="819150" y="4267200"/>
            <a:ext cx="2476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3" name="table-text">
            <a:extLst>
              <a:ext uri="{FF2B5EF4-FFF2-40B4-BE49-F238E27FC236}">
                <a16:creationId xmlns:a16="http://schemas.microsoft.com/office/drawing/2014/main" id="{E8412B4B-7140-4DF8-A7D6-6CB550D436A1}"/>
              </a:ext>
            </a:extLst>
          </p:cNvPr>
          <p:cNvSpPr>
            <a:spLocks noGrp="1"/>
          </p:cNvSpPr>
          <p:nvPr/>
        </p:nvSpPr>
        <p:spPr>
          <a:xfrm>
            <a:off x="895350" y="4343400"/>
            <a:ext cx="2324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代码/CST/data/附录</a:t>
            </a:r>
          </a:p>
        </p:txBody>
      </p:sp>
      <p:sp>
        <p:nvSpPr>
          <p:cNvPr id="34" name="table-cell">
            <a:extLst>
              <a:ext uri="{FF2B5EF4-FFF2-40B4-BE49-F238E27FC236}">
                <a16:creationId xmlns:a16="http://schemas.microsoft.com/office/drawing/2014/main" id="{3287E7D4-D7DA-4C81-AC17-4F4C4FABD4A4}"/>
              </a:ext>
            </a:extLst>
          </p:cNvPr>
          <p:cNvSpPr>
            <a:spLocks noGrp="1"/>
          </p:cNvSpPr>
          <p:nvPr/>
        </p:nvSpPr>
        <p:spPr>
          <a:xfrm>
            <a:off x="3295650" y="4267200"/>
            <a:ext cx="2476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5" name="table-text">
            <a:extLst>
              <a:ext uri="{FF2B5EF4-FFF2-40B4-BE49-F238E27FC236}">
                <a16:creationId xmlns:a16="http://schemas.microsoft.com/office/drawing/2014/main" id="{B0BBA534-BF43-4560-8BDF-6388CB621B54}"/>
              </a:ext>
            </a:extLst>
          </p:cNvPr>
          <p:cNvSpPr>
            <a:spLocks noGrp="1"/>
          </p:cNvSpPr>
          <p:nvPr/>
        </p:nvSpPr>
        <p:spPr>
          <a:xfrm>
            <a:off x="3371850" y="4343400"/>
            <a:ext cx="2324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草稿包齐套</a:t>
            </a:r>
          </a:p>
        </p:txBody>
      </p:sp>
      <p:sp>
        <p:nvSpPr>
          <p:cNvPr id="36" name="table-cell">
            <a:extLst>
              <a:ext uri="{FF2B5EF4-FFF2-40B4-BE49-F238E27FC236}">
                <a16:creationId xmlns:a16="http://schemas.microsoft.com/office/drawing/2014/main" id="{BA862D50-C574-4E0E-97F9-20AF3364ABA0}"/>
              </a:ext>
            </a:extLst>
          </p:cNvPr>
          <p:cNvSpPr>
            <a:spLocks noGrp="1"/>
          </p:cNvSpPr>
          <p:nvPr/>
        </p:nvSpPr>
        <p:spPr>
          <a:xfrm>
            <a:off x="5772150" y="4267200"/>
            <a:ext cx="43815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37" name="table-text">
            <a:extLst>
              <a:ext uri="{FF2B5EF4-FFF2-40B4-BE49-F238E27FC236}">
                <a16:creationId xmlns:a16="http://schemas.microsoft.com/office/drawing/2014/main" id="{3F57B8C1-3336-4B82-A0C0-318A98FF9F94}"/>
              </a:ext>
            </a:extLst>
          </p:cNvPr>
          <p:cNvSpPr>
            <a:spLocks noGrp="1"/>
          </p:cNvSpPr>
          <p:nvPr/>
        </p:nvSpPr>
        <p:spPr>
          <a:xfrm>
            <a:off x="5848350" y="4343400"/>
            <a:ext cx="4229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submission index blocked=0</a:t>
            </a:r>
          </a:p>
        </p:txBody>
      </p:sp>
      <p:sp>
        <p:nvSpPr>
          <p:cNvPr id="38" name="metric-box">
            <a:extLst>
              <a:ext uri="{FF2B5EF4-FFF2-40B4-BE49-F238E27FC236}">
                <a16:creationId xmlns:a16="http://schemas.microsoft.com/office/drawing/2014/main" id="{ED9ABA41-7832-4404-8AF4-A80652952234}"/>
              </a:ext>
            </a:extLst>
          </p:cNvPr>
          <p:cNvSpPr>
            <a:spLocks noGrp="1"/>
          </p:cNvSpPr>
          <p:nvPr/>
        </p:nvSpPr>
        <p:spPr>
          <a:xfrm>
            <a:off x="1047750" y="5143500"/>
            <a:ext cx="2476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9" name="metric-accent">
            <a:extLst>
              <a:ext uri="{FF2B5EF4-FFF2-40B4-BE49-F238E27FC236}">
                <a16:creationId xmlns:a16="http://schemas.microsoft.com/office/drawing/2014/main" id="{EF608DD3-C7FA-42E4-A952-1ADCD7E30B6E}"/>
              </a:ext>
            </a:extLst>
          </p:cNvPr>
          <p:cNvSpPr>
            <a:spLocks noGrp="1"/>
          </p:cNvSpPr>
          <p:nvPr/>
        </p:nvSpPr>
        <p:spPr>
          <a:xfrm>
            <a:off x="1047750" y="5143500"/>
            <a:ext cx="57150" cy="914400"/>
          </a:xfrm>
          <a:prstGeom prst="rect">
            <a:avLst/>
          </a:prstGeom>
          <a:solidFill>
            <a:srgbClr val="2E74B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metric-value">
            <a:extLst>
              <a:ext uri="{FF2B5EF4-FFF2-40B4-BE49-F238E27FC236}">
                <a16:creationId xmlns:a16="http://schemas.microsoft.com/office/drawing/2014/main" id="{28A99535-67E0-44D1-AAAE-E095376870A7}"/>
              </a:ext>
            </a:extLst>
          </p:cNvPr>
          <p:cNvSpPr>
            <a:spLocks noGrp="1"/>
          </p:cNvSpPr>
          <p:nvPr/>
        </p:nvSpPr>
        <p:spPr>
          <a:xfrm>
            <a:off x="1257300" y="525780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7C / 1P</a:t>
            </a:r>
          </a:p>
        </p:txBody>
      </p:sp>
      <p:sp>
        <p:nvSpPr>
          <p:cNvPr id="41" name="metric-label">
            <a:extLst>
              <a:ext uri="{FF2B5EF4-FFF2-40B4-BE49-F238E27FC236}">
                <a16:creationId xmlns:a16="http://schemas.microsoft.com/office/drawing/2014/main" id="{3562F5F4-281E-4614-982D-7BA3850A1CBD}"/>
              </a:ext>
            </a:extLst>
          </p:cNvPr>
          <p:cNvSpPr>
            <a:spLocks noGrp="1"/>
          </p:cNvSpPr>
          <p:nvPr/>
        </p:nvSpPr>
        <p:spPr>
          <a:xfrm>
            <a:off x="1257300" y="56578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completion audit</a:t>
            </a:r>
          </a:p>
        </p:txBody>
      </p:sp>
      <p:sp>
        <p:nvSpPr>
          <p:cNvPr id="42" name="metric-box">
            <a:extLst>
              <a:ext uri="{FF2B5EF4-FFF2-40B4-BE49-F238E27FC236}">
                <a16:creationId xmlns:a16="http://schemas.microsoft.com/office/drawing/2014/main" id="{4E22CB55-E6D2-472E-8D8C-A231299D5A44}"/>
              </a:ext>
            </a:extLst>
          </p:cNvPr>
          <p:cNvSpPr>
            <a:spLocks noGrp="1"/>
          </p:cNvSpPr>
          <p:nvPr/>
        </p:nvSpPr>
        <p:spPr>
          <a:xfrm>
            <a:off x="4000500" y="5143500"/>
            <a:ext cx="2476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3" name="metric-accent">
            <a:extLst>
              <a:ext uri="{FF2B5EF4-FFF2-40B4-BE49-F238E27FC236}">
                <a16:creationId xmlns:a16="http://schemas.microsoft.com/office/drawing/2014/main" id="{5985DF21-6B12-4D70-9433-E19248E4E7F6}"/>
              </a:ext>
            </a:extLst>
          </p:cNvPr>
          <p:cNvSpPr>
            <a:spLocks noGrp="1"/>
          </p:cNvSpPr>
          <p:nvPr/>
        </p:nvSpPr>
        <p:spPr>
          <a:xfrm>
            <a:off x="4000500" y="5143500"/>
            <a:ext cx="57150" cy="914400"/>
          </a:xfrm>
          <a:prstGeom prst="rect">
            <a:avLst/>
          </a:prstGeom>
          <a:solidFill>
            <a:srgbClr val="4C8C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metric-value">
            <a:extLst>
              <a:ext uri="{FF2B5EF4-FFF2-40B4-BE49-F238E27FC236}">
                <a16:creationId xmlns:a16="http://schemas.microsoft.com/office/drawing/2014/main" id="{78AE0760-FA1D-44AF-B3BD-6C79379CB7F3}"/>
              </a:ext>
            </a:extLst>
          </p:cNvPr>
          <p:cNvSpPr>
            <a:spLocks noGrp="1"/>
          </p:cNvSpPr>
          <p:nvPr/>
        </p:nvSpPr>
        <p:spPr>
          <a:xfrm>
            <a:off x="4210050" y="525780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5" name="metric-label">
            <a:extLst>
              <a:ext uri="{FF2B5EF4-FFF2-40B4-BE49-F238E27FC236}">
                <a16:creationId xmlns:a16="http://schemas.microsoft.com/office/drawing/2014/main" id="{5FC97D38-B4B1-4309-84B4-4E58FCE25889}"/>
              </a:ext>
            </a:extLst>
          </p:cNvPr>
          <p:cNvSpPr>
            <a:spLocks noGrp="1"/>
          </p:cNvSpPr>
          <p:nvPr/>
        </p:nvSpPr>
        <p:spPr>
          <a:xfrm>
            <a:off x="4210050" y="56578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submission blocked</a:t>
            </a:r>
          </a:p>
        </p:txBody>
      </p:sp>
      <p:sp>
        <p:nvSpPr>
          <p:cNvPr id="46" name="metric-box">
            <a:extLst>
              <a:ext uri="{FF2B5EF4-FFF2-40B4-BE49-F238E27FC236}">
                <a16:creationId xmlns:a16="http://schemas.microsoft.com/office/drawing/2014/main" id="{78BF14B2-D6C7-4BA4-A649-BAF3CA2BF2F4}"/>
              </a:ext>
            </a:extLst>
          </p:cNvPr>
          <p:cNvSpPr>
            <a:spLocks noGrp="1"/>
          </p:cNvSpPr>
          <p:nvPr/>
        </p:nvSpPr>
        <p:spPr>
          <a:xfrm>
            <a:off x="6953250" y="5143500"/>
            <a:ext cx="2476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47" name="metric-accent">
            <a:extLst>
              <a:ext uri="{FF2B5EF4-FFF2-40B4-BE49-F238E27FC236}">
                <a16:creationId xmlns:a16="http://schemas.microsoft.com/office/drawing/2014/main" id="{DE45A845-ACD0-4CB7-A5BB-E73017057EEF}"/>
              </a:ext>
            </a:extLst>
          </p:cNvPr>
          <p:cNvSpPr>
            <a:spLocks noGrp="1"/>
          </p:cNvSpPr>
          <p:nvPr/>
        </p:nvSpPr>
        <p:spPr>
          <a:xfrm>
            <a:off x="6953250" y="5143500"/>
            <a:ext cx="57150" cy="914400"/>
          </a:xfrm>
          <a:prstGeom prst="rect">
            <a:avLst/>
          </a:prstGeom>
          <a:solidFill>
            <a:srgbClr val="B879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metric-value">
            <a:extLst>
              <a:ext uri="{FF2B5EF4-FFF2-40B4-BE49-F238E27FC236}">
                <a16:creationId xmlns:a16="http://schemas.microsoft.com/office/drawing/2014/main" id="{28DCD1F7-BE09-4731-8721-B4E0167702EF}"/>
              </a:ext>
            </a:extLst>
          </p:cNvPr>
          <p:cNvSpPr>
            <a:spLocks noGrp="1"/>
          </p:cNvSpPr>
          <p:nvPr/>
        </p:nvSpPr>
        <p:spPr>
          <a:xfrm>
            <a:off x="7162800" y="525780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G5</a:t>
            </a:r>
          </a:p>
        </p:txBody>
      </p:sp>
      <p:sp>
        <p:nvSpPr>
          <p:cNvPr id="49" name="metric-label">
            <a:extLst>
              <a:ext uri="{FF2B5EF4-FFF2-40B4-BE49-F238E27FC236}">
                <a16:creationId xmlns:a16="http://schemas.microsoft.com/office/drawing/2014/main" id="{B0411306-DADF-46FD-8CF5-3DDB6501EC61}"/>
              </a:ext>
            </a:extLst>
          </p:cNvPr>
          <p:cNvSpPr>
            <a:spLocks noGrp="1"/>
          </p:cNvSpPr>
          <p:nvPr/>
        </p:nvSpPr>
        <p:spPr>
          <a:xfrm>
            <a:off x="7162800" y="56578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next gate</a:t>
            </a:r>
          </a:p>
        </p:txBody>
      </p:sp>
    </p:spTree>
    <p:extLst>
      <p:ext uri="{BB962C8B-B14F-4D97-AF65-F5344CB8AC3E}">
        <p14:creationId xmlns:p14="http://schemas.microsoft.com/office/powerpoint/2010/main" val="2068681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4000"/>
    </mc:Choice>
    <mc:Fallback>
      <p:transition spd="slow" advClick="0" advTm="14000"/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</Words>
  <Application>Microsoft Office PowerPoint</Application>
  <DocSecurity>0</DocSecurity>
  <PresentationFormat>宽屏</PresentationFormat>
  <Paragraphs>173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尔涵 华</cp:lastModifiedBy>
  <cp:revision>1</cp:revision>
  <dcterms:created xsi:type="dcterms:W3CDTF">2026-05-29T03:37:18Z</dcterms:created>
  <dcterms:modified xsi:type="dcterms:W3CDTF">2026-05-29T04:07:11Z</dcterms:modified>
</cp:coreProperties>
</file>